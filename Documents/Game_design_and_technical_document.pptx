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Open Sans 1 Bold" charset="1" panose="020B0806030504020204"/>
      <p:regular r:id="rId28"/>
    </p:embeddedFont>
    <p:embeddedFont>
      <p:font typeface="Open Sans 1" charset="1" panose="020B0606030504020204"/>
      <p:regular r:id="rId29"/>
    </p:embeddedFont>
    <p:embeddedFont>
      <p:font typeface="Open Sans 2" charset="1" panose="00000000000000000000"/>
      <p:regular r:id="rId30"/>
    </p:embeddedFont>
    <p:embeddedFont>
      <p:font typeface="Open Sans 2 Italics" charset="1" panose="00000000000000000000"/>
      <p:regular r:id="rId31"/>
    </p:embeddedFont>
    <p:embeddedFont>
      <p:font typeface="Alike Italics" charset="1" panose="02000000000000000000"/>
      <p:regular r:id="rId32"/>
    </p:embeddedFont>
    <p:embeddedFont>
      <p:font typeface="Alike" charset="1" panose="02000000000000000000"/>
      <p:regular r:id="rId33"/>
    </p:embeddedFont>
    <p:embeddedFont>
      <p:font typeface="Open Sans 1 Italics" charset="1" panose="020B0606030504020204"/>
      <p:regular r:id="rId34"/>
    </p:embeddedFont>
    <p:embeddedFont>
      <p:font typeface="Open Sans 2 Bold" charset="1" panose="0000000000000000000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slide3.xml" Type="http://schemas.openxmlformats.org/officeDocument/2006/relationships/slide"/><Relationship Id="rId3" Target="slide7.xml" Type="http://schemas.openxmlformats.org/officeDocument/2006/relationships/slide"/><Relationship Id="rId4" Target="slide11.xml" Type="http://schemas.openxmlformats.org/officeDocument/2006/relationships/slide"/><Relationship Id="rId5" Target="slide14.xml" Type="http://schemas.openxmlformats.org/officeDocument/2006/relationship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65666" y="3707183"/>
            <a:ext cx="6172071" cy="6162099"/>
          </a:xfrm>
          <a:custGeom>
            <a:avLst/>
            <a:gdLst/>
            <a:ahLst/>
            <a:cxnLst/>
            <a:rect r="r" b="b" t="t" l="l"/>
            <a:pathLst>
              <a:path h="6162099" w="6172071">
                <a:moveTo>
                  <a:pt x="0" y="0"/>
                </a:moveTo>
                <a:lnTo>
                  <a:pt x="6172072" y="0"/>
                </a:lnTo>
                <a:lnTo>
                  <a:pt x="6172072" y="6162098"/>
                </a:lnTo>
                <a:lnTo>
                  <a:pt x="0" y="6162098"/>
                </a:lnTo>
                <a:lnTo>
                  <a:pt x="0" y="0"/>
                </a:lnTo>
                <a:close/>
              </a:path>
            </a:pathLst>
          </a:custGeom>
          <a:blipFill>
            <a:blip r:embed="rId2"/>
            <a:stretch>
              <a:fillRect l="0" t="-722" r="0" b="0"/>
            </a:stretch>
          </a:blipFill>
        </p:spPr>
      </p:sp>
      <p:sp>
        <p:nvSpPr>
          <p:cNvPr name="Freeform 3" id="3"/>
          <p:cNvSpPr/>
          <p:nvPr/>
        </p:nvSpPr>
        <p:spPr>
          <a:xfrm flipH="false" flipV="false" rot="0">
            <a:off x="11612724" y="3662632"/>
            <a:ext cx="6212628" cy="6195226"/>
          </a:xfrm>
          <a:custGeom>
            <a:avLst/>
            <a:gdLst/>
            <a:ahLst/>
            <a:cxnLst/>
            <a:rect r="r" b="b" t="t" l="l"/>
            <a:pathLst>
              <a:path h="6195226" w="6212628">
                <a:moveTo>
                  <a:pt x="0" y="0"/>
                </a:moveTo>
                <a:lnTo>
                  <a:pt x="6212628" y="0"/>
                </a:lnTo>
                <a:lnTo>
                  <a:pt x="6212628" y="6195226"/>
                </a:lnTo>
                <a:lnTo>
                  <a:pt x="0" y="6195226"/>
                </a:lnTo>
                <a:lnTo>
                  <a:pt x="0" y="0"/>
                </a:lnTo>
                <a:close/>
              </a:path>
            </a:pathLst>
          </a:custGeom>
          <a:blipFill>
            <a:blip r:embed="rId3"/>
            <a:stretch>
              <a:fillRect l="0" t="0" r="0" b="0"/>
            </a:stretch>
          </a:blipFill>
        </p:spPr>
      </p:sp>
      <p:sp>
        <p:nvSpPr>
          <p:cNvPr name="TextBox 4" id="4"/>
          <p:cNvSpPr txBox="true"/>
          <p:nvPr/>
        </p:nvSpPr>
        <p:spPr>
          <a:xfrm rot="0">
            <a:off x="4804999" y="857250"/>
            <a:ext cx="8678003" cy="1566500"/>
          </a:xfrm>
          <a:prstGeom prst="rect">
            <a:avLst/>
          </a:prstGeom>
        </p:spPr>
        <p:txBody>
          <a:bodyPr anchor="t" rtlCol="false" tIns="0" lIns="0" bIns="0" rIns="0">
            <a:spAutoFit/>
          </a:bodyPr>
          <a:lstStyle/>
          <a:p>
            <a:pPr algn="ctr">
              <a:lnSpc>
                <a:spcPts val="12880"/>
              </a:lnSpc>
            </a:pPr>
            <a:r>
              <a:rPr lang="en-US" sz="9200" b="true">
                <a:solidFill>
                  <a:srgbClr val="000000"/>
                </a:solidFill>
                <a:latin typeface="Open Sans 1 Bold"/>
                <a:ea typeface="Open Sans 1 Bold"/>
                <a:cs typeface="Open Sans 1 Bold"/>
                <a:sym typeface="Open Sans 1 Bold"/>
              </a:rPr>
              <a:t>Praxinos démo</a:t>
            </a:r>
          </a:p>
        </p:txBody>
      </p:sp>
      <p:sp>
        <p:nvSpPr>
          <p:cNvPr name="TextBox 5" id="5"/>
          <p:cNvSpPr txBox="true"/>
          <p:nvPr/>
        </p:nvSpPr>
        <p:spPr>
          <a:xfrm rot="0">
            <a:off x="4585615" y="2328500"/>
            <a:ext cx="9116770" cy="887117"/>
          </a:xfrm>
          <a:prstGeom prst="rect">
            <a:avLst/>
          </a:prstGeom>
        </p:spPr>
        <p:txBody>
          <a:bodyPr anchor="t" rtlCol="false" tIns="0" lIns="0" bIns="0" rIns="0">
            <a:spAutoFit/>
          </a:bodyPr>
          <a:lstStyle/>
          <a:p>
            <a:pPr algn="ctr">
              <a:lnSpc>
                <a:spcPts val="7279"/>
              </a:lnSpc>
            </a:pPr>
            <a:r>
              <a:rPr lang="en-US" sz="5199" b="true">
                <a:solidFill>
                  <a:srgbClr val="000000"/>
                </a:solidFill>
                <a:latin typeface="Open Sans 1 Bold"/>
                <a:ea typeface="Open Sans 1 Bold"/>
                <a:cs typeface="Open Sans 1 Bold"/>
                <a:sym typeface="Open Sans 1 Bold"/>
              </a:rPr>
              <a:t>Game Design Document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59807" y="857250"/>
            <a:ext cx="5944747" cy="1566500"/>
          </a:xfrm>
          <a:prstGeom prst="rect">
            <a:avLst/>
          </a:prstGeom>
        </p:spPr>
        <p:txBody>
          <a:bodyPr anchor="t" rtlCol="false" tIns="0" lIns="0" bIns="0" rIns="0">
            <a:spAutoFit/>
          </a:bodyPr>
          <a:lstStyle/>
          <a:p>
            <a:pPr algn="ctr">
              <a:lnSpc>
                <a:spcPts val="12880"/>
              </a:lnSpc>
            </a:pPr>
            <a:r>
              <a:rPr lang="en-US" sz="9200" b="true">
                <a:solidFill>
                  <a:srgbClr val="000000"/>
                </a:solidFill>
                <a:latin typeface="Open Sans 1 Bold"/>
                <a:ea typeface="Open Sans 1 Bold"/>
                <a:cs typeface="Open Sans 1 Bold"/>
                <a:sym typeface="Open Sans 1 Bold"/>
              </a:rPr>
              <a:t>Sommaire</a:t>
            </a:r>
          </a:p>
        </p:txBody>
      </p:sp>
      <p:sp>
        <p:nvSpPr>
          <p:cNvPr name="TextBox 3" id="3"/>
          <p:cNvSpPr txBox="true"/>
          <p:nvPr/>
        </p:nvSpPr>
        <p:spPr>
          <a:xfrm rot="0">
            <a:off x="1028700" y="3165707"/>
            <a:ext cx="5606962" cy="887117"/>
          </a:xfrm>
          <a:prstGeom prst="rect">
            <a:avLst/>
          </a:prstGeom>
        </p:spPr>
        <p:txBody>
          <a:bodyPr anchor="t" rtlCol="false" tIns="0" lIns="0" bIns="0" rIns="0">
            <a:spAutoFit/>
          </a:bodyPr>
          <a:lstStyle/>
          <a:p>
            <a:pPr algn="l">
              <a:lnSpc>
                <a:spcPts val="7279"/>
              </a:lnSpc>
            </a:pPr>
            <a:r>
              <a:rPr lang="en-US" sz="5199" b="true">
                <a:solidFill>
                  <a:srgbClr val="000000"/>
                </a:solidFill>
                <a:latin typeface="Open Sans 1 Bold"/>
                <a:ea typeface="Open Sans 1 Bold"/>
                <a:cs typeface="Open Sans 1 Bold"/>
                <a:sym typeface="Open Sans 1 Bold"/>
                <a:hlinkClick r:id="rId2" action="ppaction://hlinksldjump"/>
              </a:rPr>
              <a:t>I. 3C</a:t>
            </a:r>
          </a:p>
        </p:txBody>
      </p:sp>
      <p:sp>
        <p:nvSpPr>
          <p:cNvPr name="TextBox 4" id="4"/>
          <p:cNvSpPr txBox="true"/>
          <p:nvPr/>
        </p:nvSpPr>
        <p:spPr>
          <a:xfrm rot="0">
            <a:off x="1028700" y="3957574"/>
            <a:ext cx="8376741" cy="887117"/>
          </a:xfrm>
          <a:prstGeom prst="rect">
            <a:avLst/>
          </a:prstGeom>
        </p:spPr>
        <p:txBody>
          <a:bodyPr anchor="t" rtlCol="false" tIns="0" lIns="0" bIns="0" rIns="0">
            <a:spAutoFit/>
          </a:bodyPr>
          <a:lstStyle/>
          <a:p>
            <a:pPr algn="l">
              <a:lnSpc>
                <a:spcPts val="7279"/>
              </a:lnSpc>
            </a:pPr>
            <a:r>
              <a:rPr lang="en-US" sz="5199" b="true">
                <a:solidFill>
                  <a:srgbClr val="000000"/>
                </a:solidFill>
                <a:latin typeface="Open Sans 1 Bold"/>
                <a:ea typeface="Open Sans 1 Bold"/>
                <a:cs typeface="Open Sans 1 Bold"/>
                <a:sym typeface="Open Sans 1 Bold"/>
                <a:hlinkClick r:id="rId3" action="ppaction://hlinksldjump"/>
              </a:rPr>
              <a:t>II. Game Design Feature</a:t>
            </a:r>
          </a:p>
        </p:txBody>
      </p:sp>
      <p:sp>
        <p:nvSpPr>
          <p:cNvPr name="TextBox 5" id="5"/>
          <p:cNvSpPr txBox="true"/>
          <p:nvPr/>
        </p:nvSpPr>
        <p:spPr>
          <a:xfrm rot="0">
            <a:off x="1028700" y="4749441"/>
            <a:ext cx="7866945" cy="887117"/>
          </a:xfrm>
          <a:prstGeom prst="rect">
            <a:avLst/>
          </a:prstGeom>
        </p:spPr>
        <p:txBody>
          <a:bodyPr anchor="t" rtlCol="false" tIns="0" lIns="0" bIns="0" rIns="0">
            <a:spAutoFit/>
          </a:bodyPr>
          <a:lstStyle/>
          <a:p>
            <a:pPr algn="l">
              <a:lnSpc>
                <a:spcPts val="7279"/>
              </a:lnSpc>
            </a:pPr>
            <a:r>
              <a:rPr lang="en-US" sz="5199" b="true">
                <a:solidFill>
                  <a:srgbClr val="000000"/>
                </a:solidFill>
                <a:latin typeface="Open Sans 1 Bold"/>
                <a:ea typeface="Open Sans 1 Bold"/>
                <a:cs typeface="Open Sans 1 Bold"/>
                <a:sym typeface="Open Sans 1 Bold"/>
                <a:hlinkClick r:id="rId4" action="ppaction://hlinksldjump"/>
              </a:rPr>
              <a:t>III. Level Design Feature</a:t>
            </a:r>
          </a:p>
        </p:txBody>
      </p:sp>
      <p:sp>
        <p:nvSpPr>
          <p:cNvPr name="TextBox 6" id="6"/>
          <p:cNvSpPr txBox="true"/>
          <p:nvPr/>
        </p:nvSpPr>
        <p:spPr>
          <a:xfrm rot="0">
            <a:off x="1028700" y="5541308"/>
            <a:ext cx="6594299" cy="887117"/>
          </a:xfrm>
          <a:prstGeom prst="rect">
            <a:avLst/>
          </a:prstGeom>
        </p:spPr>
        <p:txBody>
          <a:bodyPr anchor="t" rtlCol="false" tIns="0" lIns="0" bIns="0" rIns="0">
            <a:spAutoFit/>
          </a:bodyPr>
          <a:lstStyle/>
          <a:p>
            <a:pPr algn="l">
              <a:lnSpc>
                <a:spcPts val="7279"/>
              </a:lnSpc>
            </a:pPr>
            <a:r>
              <a:rPr lang="en-US" sz="5199" b="true">
                <a:solidFill>
                  <a:srgbClr val="000000"/>
                </a:solidFill>
                <a:latin typeface="Open Sans 1 Bold"/>
                <a:ea typeface="Open Sans 1 Bold"/>
                <a:cs typeface="Open Sans 1 Bold"/>
                <a:sym typeface="Open Sans 1 Bold"/>
                <a:hlinkClick r:id="rId5" action="ppaction://hlinksldjump"/>
              </a:rPr>
              <a:t>IV. P</a:t>
            </a:r>
            <a:r>
              <a:rPr lang="en-US" sz="5199" b="true">
                <a:solidFill>
                  <a:srgbClr val="000000"/>
                </a:solidFill>
                <a:latin typeface="Open Sans 1 Bold"/>
                <a:ea typeface="Open Sans 1 Bold"/>
                <a:cs typeface="Open Sans 1 Bold"/>
                <a:sym typeface="Open Sans 1 Bold"/>
                <a:hlinkClick r:id="rId5" action="ppaction://hlinksldjump"/>
              </a:rPr>
              <a:t>artie Technique</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438279" y="4274525"/>
            <a:ext cx="1411442" cy="1566500"/>
          </a:xfrm>
          <a:prstGeom prst="rect">
            <a:avLst/>
          </a:prstGeom>
        </p:spPr>
        <p:txBody>
          <a:bodyPr anchor="t" rtlCol="false" tIns="0" lIns="0" bIns="0" rIns="0">
            <a:spAutoFit/>
          </a:bodyPr>
          <a:lstStyle/>
          <a:p>
            <a:pPr algn="ctr">
              <a:lnSpc>
                <a:spcPts val="12880"/>
              </a:lnSpc>
            </a:pPr>
            <a:r>
              <a:rPr lang="en-US" sz="9200" b="true">
                <a:solidFill>
                  <a:srgbClr val="000000"/>
                </a:solidFill>
                <a:latin typeface="Open Sans 1 Bold"/>
                <a:ea typeface="Open Sans 1 Bold"/>
                <a:cs typeface="Open Sans 1 Bold"/>
                <a:sym typeface="Open Sans 1 Bold"/>
              </a:rPr>
              <a:t>3C</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67394" y="857250"/>
            <a:ext cx="1411442" cy="1566500"/>
          </a:xfrm>
          <a:prstGeom prst="rect">
            <a:avLst/>
          </a:prstGeom>
        </p:spPr>
        <p:txBody>
          <a:bodyPr anchor="t" rtlCol="false" tIns="0" lIns="0" bIns="0" rIns="0">
            <a:spAutoFit/>
          </a:bodyPr>
          <a:lstStyle/>
          <a:p>
            <a:pPr algn="ctr">
              <a:lnSpc>
                <a:spcPts val="12880"/>
              </a:lnSpc>
            </a:pPr>
            <a:r>
              <a:rPr lang="en-US" sz="9200" b="true">
                <a:solidFill>
                  <a:srgbClr val="000000"/>
                </a:solidFill>
                <a:latin typeface="Open Sans 1 Bold"/>
                <a:ea typeface="Open Sans 1 Bold"/>
                <a:cs typeface="Open Sans 1 Bold"/>
                <a:sym typeface="Open Sans 1 Bold"/>
              </a:rPr>
              <a:t>3C</a:t>
            </a:r>
          </a:p>
        </p:txBody>
      </p:sp>
      <p:sp>
        <p:nvSpPr>
          <p:cNvPr name="TextBox 3" id="3"/>
          <p:cNvSpPr txBox="true"/>
          <p:nvPr/>
        </p:nvSpPr>
        <p:spPr>
          <a:xfrm rot="0">
            <a:off x="1028700" y="2328500"/>
            <a:ext cx="3268486" cy="887117"/>
          </a:xfrm>
          <a:prstGeom prst="rect">
            <a:avLst/>
          </a:prstGeom>
        </p:spPr>
        <p:txBody>
          <a:bodyPr anchor="t" rtlCol="false" tIns="0" lIns="0" bIns="0" rIns="0">
            <a:spAutoFit/>
          </a:bodyPr>
          <a:lstStyle/>
          <a:p>
            <a:pPr algn="ctr">
              <a:lnSpc>
                <a:spcPts val="7279"/>
              </a:lnSpc>
            </a:pPr>
            <a:r>
              <a:rPr lang="en-US" sz="5199" b="true">
                <a:solidFill>
                  <a:srgbClr val="000000"/>
                </a:solidFill>
                <a:latin typeface="Open Sans 1 Bold"/>
                <a:ea typeface="Open Sans 1 Bold"/>
                <a:cs typeface="Open Sans 1 Bold"/>
                <a:sym typeface="Open Sans 1 Bold"/>
              </a:rPr>
              <a:t>Character</a:t>
            </a:r>
          </a:p>
        </p:txBody>
      </p:sp>
      <p:sp>
        <p:nvSpPr>
          <p:cNvPr name="TextBox 4" id="4"/>
          <p:cNvSpPr txBox="true"/>
          <p:nvPr/>
        </p:nvSpPr>
        <p:spPr>
          <a:xfrm rot="0">
            <a:off x="8027564" y="4219926"/>
            <a:ext cx="7272845" cy="1780474"/>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000000"/>
                </a:solidFill>
                <a:latin typeface="Open Sans 1"/>
                <a:ea typeface="Open Sans 1"/>
                <a:cs typeface="Open Sans 1"/>
                <a:sym typeface="Open Sans 1"/>
              </a:rPr>
              <a:t>Personnage agile</a:t>
            </a:r>
          </a:p>
          <a:p>
            <a:pPr algn="l" marL="734059" indent="-367030" lvl="1">
              <a:lnSpc>
                <a:spcPts val="4759"/>
              </a:lnSpc>
              <a:buFont typeface="Arial"/>
              <a:buChar char="•"/>
            </a:pPr>
            <a:r>
              <a:rPr lang="en-US" sz="3399">
                <a:solidFill>
                  <a:srgbClr val="000000"/>
                </a:solidFill>
                <a:latin typeface="Open Sans 1"/>
                <a:ea typeface="Open Sans 1"/>
                <a:cs typeface="Open Sans 1"/>
                <a:sym typeface="Open Sans 1"/>
              </a:rPr>
              <a:t>Plutôt rapide</a:t>
            </a:r>
          </a:p>
          <a:p>
            <a:pPr algn="l" marL="734059" indent="-367030" lvl="1">
              <a:lnSpc>
                <a:spcPts val="4759"/>
              </a:lnSpc>
              <a:buFont typeface="Arial"/>
              <a:buChar char="•"/>
            </a:pPr>
            <a:r>
              <a:rPr lang="en-US" sz="3399">
                <a:solidFill>
                  <a:srgbClr val="000000"/>
                </a:solidFill>
                <a:latin typeface="Open Sans 1"/>
                <a:ea typeface="Open Sans 1"/>
                <a:cs typeface="Open Sans 1"/>
                <a:sym typeface="Open Sans 1"/>
              </a:rPr>
              <a:t>Qui a du répondant aux controls</a:t>
            </a:r>
          </a:p>
        </p:txBody>
      </p:sp>
      <p:sp>
        <p:nvSpPr>
          <p:cNvPr name="Freeform 5" id="5"/>
          <p:cNvSpPr/>
          <p:nvPr/>
        </p:nvSpPr>
        <p:spPr>
          <a:xfrm flipH="false" flipV="false" rot="0">
            <a:off x="465666" y="3707183"/>
            <a:ext cx="6172071" cy="6162099"/>
          </a:xfrm>
          <a:custGeom>
            <a:avLst/>
            <a:gdLst/>
            <a:ahLst/>
            <a:cxnLst/>
            <a:rect r="r" b="b" t="t" l="l"/>
            <a:pathLst>
              <a:path h="6162099" w="6172071">
                <a:moveTo>
                  <a:pt x="0" y="0"/>
                </a:moveTo>
                <a:lnTo>
                  <a:pt x="6172072" y="0"/>
                </a:lnTo>
                <a:lnTo>
                  <a:pt x="6172072" y="6162098"/>
                </a:lnTo>
                <a:lnTo>
                  <a:pt x="0" y="6162098"/>
                </a:lnTo>
                <a:lnTo>
                  <a:pt x="0" y="0"/>
                </a:lnTo>
                <a:close/>
              </a:path>
            </a:pathLst>
          </a:custGeom>
          <a:blipFill>
            <a:blip r:embed="rId2"/>
            <a:stretch>
              <a:fillRect l="0" t="-722"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959515" y="3922041"/>
            <a:ext cx="8368970" cy="5079235"/>
            <a:chOff x="0" y="0"/>
            <a:chExt cx="1119816" cy="679631"/>
          </a:xfrm>
        </p:grpSpPr>
        <p:sp>
          <p:nvSpPr>
            <p:cNvPr name="Freeform 3" id="3"/>
            <p:cNvSpPr/>
            <p:nvPr/>
          </p:nvSpPr>
          <p:spPr>
            <a:xfrm flipH="false" flipV="false" rot="0">
              <a:off x="0" y="0"/>
              <a:ext cx="1119816" cy="679631"/>
            </a:xfrm>
            <a:custGeom>
              <a:avLst/>
              <a:gdLst/>
              <a:ahLst/>
              <a:cxnLst/>
              <a:rect r="r" b="b" t="t" l="l"/>
              <a:pathLst>
                <a:path h="679631" w="1119816">
                  <a:moveTo>
                    <a:pt x="0" y="0"/>
                  </a:moveTo>
                  <a:lnTo>
                    <a:pt x="1119816" y="0"/>
                  </a:lnTo>
                  <a:lnTo>
                    <a:pt x="1119816" y="679631"/>
                  </a:lnTo>
                  <a:lnTo>
                    <a:pt x="0" y="679631"/>
                  </a:lnTo>
                  <a:close/>
                </a:path>
              </a:pathLst>
            </a:custGeom>
            <a:solidFill>
              <a:srgbClr val="000000">
                <a:alpha val="0"/>
              </a:srgbClr>
            </a:solidFill>
            <a:ln w="19050" cap="sq">
              <a:solidFill>
                <a:srgbClr val="000000"/>
              </a:solidFill>
              <a:prstDash val="solid"/>
              <a:miter/>
            </a:ln>
          </p:spPr>
        </p:sp>
        <p:sp>
          <p:nvSpPr>
            <p:cNvPr name="TextBox 4" id="4"/>
            <p:cNvSpPr txBox="true"/>
            <p:nvPr/>
          </p:nvSpPr>
          <p:spPr>
            <a:xfrm>
              <a:off x="0" y="-38100"/>
              <a:ext cx="1119816" cy="717731"/>
            </a:xfrm>
            <a:prstGeom prst="rect">
              <a:avLst/>
            </a:prstGeom>
          </p:spPr>
          <p:txBody>
            <a:bodyPr anchor="ctr" rtlCol="false" tIns="50800" lIns="50800" bIns="50800" rIns="50800"/>
            <a:lstStyle/>
            <a:p>
              <a:pPr algn="ctr">
                <a:lnSpc>
                  <a:spcPts val="3360"/>
                </a:lnSpc>
              </a:pPr>
            </a:p>
          </p:txBody>
        </p:sp>
      </p:grpSp>
      <p:sp>
        <p:nvSpPr>
          <p:cNvPr name="Freeform 5" id="5"/>
          <p:cNvSpPr/>
          <p:nvPr/>
        </p:nvSpPr>
        <p:spPr>
          <a:xfrm flipH="false" flipV="false" rot="0">
            <a:off x="5421348" y="4367667"/>
            <a:ext cx="7445303" cy="4187983"/>
          </a:xfrm>
          <a:custGeom>
            <a:avLst/>
            <a:gdLst/>
            <a:ahLst/>
            <a:cxnLst/>
            <a:rect r="r" b="b" t="t" l="l"/>
            <a:pathLst>
              <a:path h="4187983" w="7445303">
                <a:moveTo>
                  <a:pt x="0" y="0"/>
                </a:moveTo>
                <a:lnTo>
                  <a:pt x="7445304" y="0"/>
                </a:lnTo>
                <a:lnTo>
                  <a:pt x="7445304" y="4187983"/>
                </a:lnTo>
                <a:lnTo>
                  <a:pt x="0" y="4187983"/>
                </a:lnTo>
                <a:lnTo>
                  <a:pt x="0" y="0"/>
                </a:lnTo>
                <a:close/>
              </a:path>
            </a:pathLst>
          </a:custGeom>
          <a:blipFill>
            <a:blip r:embed="rId2"/>
            <a:stretch>
              <a:fillRect l="0" t="0" r="0" b="0"/>
            </a:stretch>
          </a:blipFill>
        </p:spPr>
      </p:sp>
      <p:sp>
        <p:nvSpPr>
          <p:cNvPr name="TextBox 6" id="6"/>
          <p:cNvSpPr txBox="true"/>
          <p:nvPr/>
        </p:nvSpPr>
        <p:spPr>
          <a:xfrm rot="0">
            <a:off x="1028700" y="857250"/>
            <a:ext cx="1411442" cy="1566500"/>
          </a:xfrm>
          <a:prstGeom prst="rect">
            <a:avLst/>
          </a:prstGeom>
        </p:spPr>
        <p:txBody>
          <a:bodyPr anchor="t" rtlCol="false" tIns="0" lIns="0" bIns="0" rIns="0">
            <a:spAutoFit/>
          </a:bodyPr>
          <a:lstStyle/>
          <a:p>
            <a:pPr algn="ctr">
              <a:lnSpc>
                <a:spcPts val="12880"/>
              </a:lnSpc>
            </a:pPr>
            <a:r>
              <a:rPr lang="en-US" sz="9200" b="true">
                <a:solidFill>
                  <a:srgbClr val="000000"/>
                </a:solidFill>
                <a:latin typeface="Open Sans 1 Bold"/>
                <a:ea typeface="Open Sans 1 Bold"/>
                <a:cs typeface="Open Sans 1 Bold"/>
                <a:sym typeface="Open Sans 1 Bold"/>
              </a:rPr>
              <a:t>3C</a:t>
            </a:r>
          </a:p>
        </p:txBody>
      </p:sp>
      <p:sp>
        <p:nvSpPr>
          <p:cNvPr name="TextBox 7" id="7"/>
          <p:cNvSpPr txBox="true"/>
          <p:nvPr/>
        </p:nvSpPr>
        <p:spPr>
          <a:xfrm rot="0">
            <a:off x="1028700" y="2328500"/>
            <a:ext cx="2556867" cy="887117"/>
          </a:xfrm>
          <a:prstGeom prst="rect">
            <a:avLst/>
          </a:prstGeom>
        </p:spPr>
        <p:txBody>
          <a:bodyPr anchor="t" rtlCol="false" tIns="0" lIns="0" bIns="0" rIns="0">
            <a:spAutoFit/>
          </a:bodyPr>
          <a:lstStyle/>
          <a:p>
            <a:pPr algn="ctr">
              <a:lnSpc>
                <a:spcPts val="7279"/>
              </a:lnSpc>
            </a:pPr>
            <a:r>
              <a:rPr lang="en-US" sz="5199" b="true">
                <a:solidFill>
                  <a:srgbClr val="000000"/>
                </a:solidFill>
                <a:latin typeface="Open Sans 1 Bold"/>
                <a:ea typeface="Open Sans 1 Bold"/>
                <a:cs typeface="Open Sans 1 Bold"/>
                <a:sym typeface="Open Sans 1 Bold"/>
              </a:rPr>
              <a:t>Camera</a:t>
            </a:r>
          </a:p>
        </p:txBody>
      </p:sp>
      <p:sp>
        <p:nvSpPr>
          <p:cNvPr name="TextBox 8" id="8"/>
          <p:cNvSpPr txBox="true"/>
          <p:nvPr/>
        </p:nvSpPr>
        <p:spPr>
          <a:xfrm rot="0">
            <a:off x="5901087" y="1973742"/>
            <a:ext cx="6485826" cy="1571921"/>
          </a:xfrm>
          <a:prstGeom prst="rect">
            <a:avLst/>
          </a:prstGeom>
        </p:spPr>
        <p:txBody>
          <a:bodyPr anchor="t" rtlCol="false" tIns="0" lIns="0" bIns="0" rIns="0">
            <a:spAutoFit/>
          </a:bodyPr>
          <a:lstStyle/>
          <a:p>
            <a:pPr algn="l" marL="656013" indent="-328007" lvl="1">
              <a:lnSpc>
                <a:spcPts val="4253"/>
              </a:lnSpc>
              <a:buFont typeface="Arial"/>
              <a:buChar char="•"/>
            </a:pPr>
            <a:r>
              <a:rPr lang="en-US" sz="3038">
                <a:solidFill>
                  <a:srgbClr val="000000"/>
                </a:solidFill>
                <a:latin typeface="Open Sans 2"/>
                <a:ea typeface="Open Sans 2"/>
                <a:cs typeface="Open Sans 2"/>
                <a:sym typeface="Open Sans 2"/>
              </a:rPr>
              <a:t>Troisième personne vue de côté</a:t>
            </a:r>
          </a:p>
          <a:p>
            <a:pPr algn="l" marL="656013" indent="-328007" lvl="1">
              <a:lnSpc>
                <a:spcPts val="4253"/>
              </a:lnSpc>
              <a:buFont typeface="Arial"/>
              <a:buChar char="•"/>
            </a:pPr>
            <a:r>
              <a:rPr lang="en-US" sz="3038">
                <a:solidFill>
                  <a:srgbClr val="000000"/>
                </a:solidFill>
                <a:latin typeface="Open Sans 2"/>
                <a:ea typeface="Open Sans 2"/>
                <a:cs typeface="Open Sans 2"/>
                <a:sym typeface="Open Sans 2"/>
              </a:rPr>
              <a:t>Champ de vision limité</a:t>
            </a:r>
          </a:p>
          <a:p>
            <a:pPr algn="l" marL="656013" indent="-328007" lvl="1">
              <a:lnSpc>
                <a:spcPts val="4253"/>
              </a:lnSpc>
              <a:buFont typeface="Arial"/>
              <a:buChar char="•"/>
            </a:pPr>
            <a:r>
              <a:rPr lang="en-US" sz="3038">
                <a:solidFill>
                  <a:srgbClr val="000000"/>
                </a:solidFill>
                <a:latin typeface="Open Sans 2"/>
                <a:ea typeface="Open Sans 2"/>
                <a:cs typeface="Open Sans 2"/>
                <a:sym typeface="Open Sans 2"/>
              </a:rPr>
              <a:t>Challenge sur l’axe vertical</a:t>
            </a:r>
          </a:p>
        </p:txBody>
      </p:sp>
      <p:sp>
        <p:nvSpPr>
          <p:cNvPr name="TextBox 9" id="9"/>
          <p:cNvSpPr txBox="true"/>
          <p:nvPr/>
        </p:nvSpPr>
        <p:spPr>
          <a:xfrm rot="0">
            <a:off x="6698535" y="8943199"/>
            <a:ext cx="4890930" cy="595334"/>
          </a:xfrm>
          <a:prstGeom prst="rect">
            <a:avLst/>
          </a:prstGeom>
        </p:spPr>
        <p:txBody>
          <a:bodyPr anchor="t" rtlCol="false" tIns="0" lIns="0" bIns="0" rIns="0">
            <a:spAutoFit/>
          </a:bodyPr>
          <a:lstStyle/>
          <a:p>
            <a:pPr algn="l">
              <a:lnSpc>
                <a:spcPts val="4960"/>
              </a:lnSpc>
            </a:pPr>
            <a:r>
              <a:rPr lang="en-US" sz="3543" i="true">
                <a:solidFill>
                  <a:srgbClr val="000000"/>
                </a:solidFill>
                <a:latin typeface="Open Sans 2 Italics"/>
                <a:ea typeface="Open Sans 2 Italics"/>
                <a:cs typeface="Open Sans 2 Italics"/>
                <a:sym typeface="Open Sans 2 Italics"/>
              </a:rPr>
              <a:t>ori and the blind forest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0479" y="3770831"/>
            <a:ext cx="9265506" cy="5046025"/>
            <a:chOff x="0" y="0"/>
            <a:chExt cx="2440298" cy="1328994"/>
          </a:xfrm>
        </p:grpSpPr>
        <p:sp>
          <p:nvSpPr>
            <p:cNvPr name="Freeform 3" id="3"/>
            <p:cNvSpPr/>
            <p:nvPr/>
          </p:nvSpPr>
          <p:spPr>
            <a:xfrm flipH="false" flipV="false" rot="0">
              <a:off x="0" y="0"/>
              <a:ext cx="2440298" cy="1328994"/>
            </a:xfrm>
            <a:custGeom>
              <a:avLst/>
              <a:gdLst/>
              <a:ahLst/>
              <a:cxnLst/>
              <a:rect r="r" b="b" t="t" l="l"/>
              <a:pathLst>
                <a:path h="1328994" w="2440298">
                  <a:moveTo>
                    <a:pt x="42614" y="0"/>
                  </a:moveTo>
                  <a:lnTo>
                    <a:pt x="2397684" y="0"/>
                  </a:lnTo>
                  <a:cubicBezTo>
                    <a:pt x="2408986" y="0"/>
                    <a:pt x="2419825" y="4490"/>
                    <a:pt x="2427817" y="12481"/>
                  </a:cubicBezTo>
                  <a:cubicBezTo>
                    <a:pt x="2435808" y="20473"/>
                    <a:pt x="2440298" y="31312"/>
                    <a:pt x="2440298" y="42614"/>
                  </a:cubicBezTo>
                  <a:lnTo>
                    <a:pt x="2440298" y="1286380"/>
                  </a:lnTo>
                  <a:cubicBezTo>
                    <a:pt x="2440298" y="1297682"/>
                    <a:pt x="2435808" y="1308521"/>
                    <a:pt x="2427817" y="1316513"/>
                  </a:cubicBezTo>
                  <a:cubicBezTo>
                    <a:pt x="2419825" y="1324505"/>
                    <a:pt x="2408986" y="1328994"/>
                    <a:pt x="2397684" y="1328994"/>
                  </a:cubicBezTo>
                  <a:lnTo>
                    <a:pt x="42614" y="1328994"/>
                  </a:lnTo>
                  <a:cubicBezTo>
                    <a:pt x="31312" y="1328994"/>
                    <a:pt x="20473" y="1324505"/>
                    <a:pt x="12481" y="1316513"/>
                  </a:cubicBezTo>
                  <a:cubicBezTo>
                    <a:pt x="4490" y="1308521"/>
                    <a:pt x="0" y="1297682"/>
                    <a:pt x="0" y="1286380"/>
                  </a:cubicBezTo>
                  <a:lnTo>
                    <a:pt x="0" y="42614"/>
                  </a:lnTo>
                  <a:cubicBezTo>
                    <a:pt x="0" y="31312"/>
                    <a:pt x="4490" y="20473"/>
                    <a:pt x="12481" y="12481"/>
                  </a:cubicBezTo>
                  <a:cubicBezTo>
                    <a:pt x="20473" y="4490"/>
                    <a:pt x="31312" y="0"/>
                    <a:pt x="42614" y="0"/>
                  </a:cubicBezTo>
                  <a:close/>
                </a:path>
              </a:pathLst>
            </a:custGeom>
            <a:solidFill>
              <a:srgbClr val="A8AFE4"/>
            </a:solidFill>
            <a:ln w="38100" cap="rnd">
              <a:solidFill>
                <a:srgbClr val="000000"/>
              </a:solidFill>
              <a:prstDash val="solid"/>
              <a:round/>
            </a:ln>
          </p:spPr>
        </p:sp>
        <p:sp>
          <p:nvSpPr>
            <p:cNvPr name="TextBox 4" id="4"/>
            <p:cNvSpPr txBox="true"/>
            <p:nvPr/>
          </p:nvSpPr>
          <p:spPr>
            <a:xfrm>
              <a:off x="0" y="-38100"/>
              <a:ext cx="2440298" cy="1367094"/>
            </a:xfrm>
            <a:prstGeom prst="rect">
              <a:avLst/>
            </a:prstGeom>
          </p:spPr>
          <p:txBody>
            <a:bodyPr anchor="ctr" rtlCol="false" tIns="50800" lIns="50800" bIns="50800" rIns="50800"/>
            <a:lstStyle/>
            <a:p>
              <a:pPr algn="l">
                <a:lnSpc>
                  <a:spcPts val="2706"/>
                </a:lnSpc>
              </a:pPr>
            </a:p>
          </p:txBody>
        </p:sp>
      </p:grpSp>
      <p:sp>
        <p:nvSpPr>
          <p:cNvPr name="Freeform 5" id="5"/>
          <p:cNvSpPr/>
          <p:nvPr/>
        </p:nvSpPr>
        <p:spPr>
          <a:xfrm flipH="false" flipV="false" rot="0">
            <a:off x="1715109" y="4277082"/>
            <a:ext cx="5981532" cy="3881040"/>
          </a:xfrm>
          <a:custGeom>
            <a:avLst/>
            <a:gdLst/>
            <a:ahLst/>
            <a:cxnLst/>
            <a:rect r="r" b="b" t="t" l="l"/>
            <a:pathLst>
              <a:path h="3881040" w="5981532">
                <a:moveTo>
                  <a:pt x="0" y="0"/>
                </a:moveTo>
                <a:lnTo>
                  <a:pt x="5981532" y="0"/>
                </a:lnTo>
                <a:lnTo>
                  <a:pt x="5981532" y="3881040"/>
                </a:lnTo>
                <a:lnTo>
                  <a:pt x="0" y="3881040"/>
                </a:lnTo>
                <a:lnTo>
                  <a:pt x="0" y="0"/>
                </a:lnTo>
                <a:close/>
              </a:path>
            </a:pathLst>
          </a:custGeom>
          <a:blipFill>
            <a:blip r:embed="rId2"/>
            <a:stretch>
              <a:fillRect l="0" t="0" r="0" b="0"/>
            </a:stretch>
          </a:blipFill>
        </p:spPr>
      </p:sp>
      <p:sp>
        <p:nvSpPr>
          <p:cNvPr name="AutoShape 6" id="6"/>
          <p:cNvSpPr/>
          <p:nvPr/>
        </p:nvSpPr>
        <p:spPr>
          <a:xfrm>
            <a:off x="5837989" y="5556608"/>
            <a:ext cx="0" cy="660994"/>
          </a:xfrm>
          <a:prstGeom prst="line">
            <a:avLst/>
          </a:prstGeom>
          <a:ln cap="flat" w="38100">
            <a:solidFill>
              <a:srgbClr val="4370A9"/>
            </a:solidFill>
            <a:prstDash val="solid"/>
            <a:headEnd type="none" len="sm" w="sm"/>
            <a:tailEnd type="none" len="sm" w="sm"/>
          </a:ln>
        </p:spPr>
      </p:sp>
      <p:sp>
        <p:nvSpPr>
          <p:cNvPr name="AutoShape 7" id="7"/>
          <p:cNvSpPr/>
          <p:nvPr/>
        </p:nvSpPr>
        <p:spPr>
          <a:xfrm>
            <a:off x="5837996" y="5576128"/>
            <a:ext cx="1385749" cy="0"/>
          </a:xfrm>
          <a:prstGeom prst="line">
            <a:avLst/>
          </a:prstGeom>
          <a:ln cap="flat" w="38100">
            <a:solidFill>
              <a:srgbClr val="4370A9"/>
            </a:solidFill>
            <a:prstDash val="solid"/>
            <a:headEnd type="none" len="sm" w="sm"/>
            <a:tailEnd type="arrow" len="sm" w="med"/>
          </a:ln>
        </p:spPr>
      </p:sp>
      <p:sp>
        <p:nvSpPr>
          <p:cNvPr name="AutoShape 8" id="8"/>
          <p:cNvSpPr/>
          <p:nvPr/>
        </p:nvSpPr>
        <p:spPr>
          <a:xfrm>
            <a:off x="6321583" y="6802050"/>
            <a:ext cx="902162" cy="0"/>
          </a:xfrm>
          <a:prstGeom prst="line">
            <a:avLst/>
          </a:prstGeom>
          <a:ln cap="flat" w="38100">
            <a:solidFill>
              <a:srgbClr val="6AC550"/>
            </a:solidFill>
            <a:prstDash val="solid"/>
            <a:headEnd type="none" len="sm" w="sm"/>
            <a:tailEnd type="none" len="sm" w="sm"/>
          </a:ln>
        </p:spPr>
      </p:sp>
      <p:sp>
        <p:nvSpPr>
          <p:cNvPr name="AutoShape 9" id="9"/>
          <p:cNvSpPr/>
          <p:nvPr/>
        </p:nvSpPr>
        <p:spPr>
          <a:xfrm flipH="true">
            <a:off x="1818439" y="6434262"/>
            <a:ext cx="950875" cy="0"/>
          </a:xfrm>
          <a:prstGeom prst="line">
            <a:avLst/>
          </a:prstGeom>
          <a:ln cap="flat" w="38100">
            <a:solidFill>
              <a:srgbClr val="353535"/>
            </a:solidFill>
            <a:prstDash val="solid"/>
            <a:headEnd type="none" len="sm" w="sm"/>
            <a:tailEnd type="arrow" len="sm" w="med"/>
          </a:ln>
        </p:spPr>
      </p:sp>
      <p:sp>
        <p:nvSpPr>
          <p:cNvPr name="AutoShape 10" id="10"/>
          <p:cNvSpPr/>
          <p:nvPr/>
        </p:nvSpPr>
        <p:spPr>
          <a:xfrm flipH="true">
            <a:off x="12930047" y="2731367"/>
            <a:ext cx="0" cy="2053314"/>
          </a:xfrm>
          <a:prstGeom prst="line">
            <a:avLst/>
          </a:prstGeom>
          <a:ln cap="flat" w="47625">
            <a:solidFill>
              <a:srgbClr val="6AC550"/>
            </a:solidFill>
            <a:prstDash val="solid"/>
            <a:headEnd type="none" len="sm" w="sm"/>
            <a:tailEnd type="arrow" len="sm" w="med"/>
          </a:ln>
        </p:spPr>
      </p:sp>
      <p:sp>
        <p:nvSpPr>
          <p:cNvPr name="AutoShape 11" id="11"/>
          <p:cNvSpPr/>
          <p:nvPr/>
        </p:nvSpPr>
        <p:spPr>
          <a:xfrm>
            <a:off x="14766088" y="3544943"/>
            <a:ext cx="0" cy="1174941"/>
          </a:xfrm>
          <a:prstGeom prst="line">
            <a:avLst/>
          </a:prstGeom>
          <a:ln cap="flat" w="47625">
            <a:solidFill>
              <a:srgbClr val="353535"/>
            </a:solidFill>
            <a:prstDash val="solid"/>
            <a:headEnd type="none" len="sm" w="sm"/>
            <a:tailEnd type="arrow" len="sm" w="med"/>
          </a:ln>
        </p:spPr>
      </p:sp>
      <p:sp>
        <p:nvSpPr>
          <p:cNvPr name="Freeform 12" id="12"/>
          <p:cNvSpPr/>
          <p:nvPr/>
        </p:nvSpPr>
        <p:spPr>
          <a:xfrm flipH="false" flipV="false" rot="0">
            <a:off x="10619251" y="928514"/>
            <a:ext cx="7096923" cy="3326682"/>
          </a:xfrm>
          <a:custGeom>
            <a:avLst/>
            <a:gdLst/>
            <a:ahLst/>
            <a:cxnLst/>
            <a:rect r="r" b="b" t="t" l="l"/>
            <a:pathLst>
              <a:path h="3326682" w="7096923">
                <a:moveTo>
                  <a:pt x="0" y="0"/>
                </a:moveTo>
                <a:lnTo>
                  <a:pt x="7096923" y="0"/>
                </a:lnTo>
                <a:lnTo>
                  <a:pt x="7096923" y="3326683"/>
                </a:lnTo>
                <a:lnTo>
                  <a:pt x="0" y="3326683"/>
                </a:lnTo>
                <a:lnTo>
                  <a:pt x="0" y="0"/>
                </a:lnTo>
                <a:close/>
              </a:path>
            </a:pathLst>
          </a:custGeom>
          <a:blipFill>
            <a:blip r:embed="rId3"/>
            <a:stretch>
              <a:fillRect l="0" t="0" r="0" b="0"/>
            </a:stretch>
          </a:blipFill>
        </p:spPr>
      </p:sp>
      <p:sp>
        <p:nvSpPr>
          <p:cNvPr name="TextBox 13" id="13"/>
          <p:cNvSpPr txBox="true"/>
          <p:nvPr/>
        </p:nvSpPr>
        <p:spPr>
          <a:xfrm rot="0">
            <a:off x="10829281" y="4737056"/>
            <a:ext cx="3148456" cy="406444"/>
          </a:xfrm>
          <a:prstGeom prst="rect">
            <a:avLst/>
          </a:prstGeom>
        </p:spPr>
        <p:txBody>
          <a:bodyPr anchor="t" rtlCol="false" tIns="0" lIns="0" bIns="0" rIns="0">
            <a:spAutoFit/>
          </a:bodyPr>
          <a:lstStyle/>
          <a:p>
            <a:pPr algn="just">
              <a:lnSpc>
                <a:spcPts val="3343"/>
              </a:lnSpc>
            </a:pPr>
            <a:r>
              <a:rPr lang="en-US" sz="2388" i="true">
                <a:solidFill>
                  <a:srgbClr val="000000"/>
                </a:solidFill>
                <a:latin typeface="Alike Italics"/>
                <a:ea typeface="Alike Italics"/>
                <a:cs typeface="Alike Italics"/>
                <a:sym typeface="Alike Italics"/>
              </a:rPr>
              <a:t>Movement (maintenir)</a:t>
            </a:r>
          </a:p>
        </p:txBody>
      </p:sp>
      <p:sp>
        <p:nvSpPr>
          <p:cNvPr name="AutoShape 14" id="14"/>
          <p:cNvSpPr/>
          <p:nvPr/>
        </p:nvSpPr>
        <p:spPr>
          <a:xfrm flipH="true">
            <a:off x="12032084" y="2731367"/>
            <a:ext cx="0" cy="2053314"/>
          </a:xfrm>
          <a:prstGeom prst="line">
            <a:avLst/>
          </a:prstGeom>
          <a:ln cap="flat" w="47625">
            <a:solidFill>
              <a:srgbClr val="6AC550"/>
            </a:solidFill>
            <a:prstDash val="solid"/>
            <a:headEnd type="none" len="sm" w="sm"/>
            <a:tailEnd type="arrow" len="sm" w="med"/>
          </a:ln>
        </p:spPr>
      </p:sp>
      <p:sp>
        <p:nvSpPr>
          <p:cNvPr name="AutoShape 15" id="15"/>
          <p:cNvSpPr/>
          <p:nvPr/>
        </p:nvSpPr>
        <p:spPr>
          <a:xfrm flipH="true" flipV="true">
            <a:off x="7237535" y="6815194"/>
            <a:ext cx="329017" cy="345197"/>
          </a:xfrm>
          <a:prstGeom prst="line">
            <a:avLst/>
          </a:prstGeom>
          <a:ln cap="flat" w="38100">
            <a:solidFill>
              <a:srgbClr val="6AC550"/>
            </a:solidFill>
            <a:prstDash val="solid"/>
            <a:headEnd type="arrow" len="sm" w="med"/>
            <a:tailEnd type="none" len="sm" w="sm"/>
          </a:ln>
        </p:spPr>
      </p:sp>
      <p:sp>
        <p:nvSpPr>
          <p:cNvPr name="Freeform 16" id="16"/>
          <p:cNvSpPr/>
          <p:nvPr/>
        </p:nvSpPr>
        <p:spPr>
          <a:xfrm flipH="false" flipV="false" rot="0">
            <a:off x="12838679" y="6947038"/>
            <a:ext cx="2658068" cy="2589027"/>
          </a:xfrm>
          <a:custGeom>
            <a:avLst/>
            <a:gdLst/>
            <a:ahLst/>
            <a:cxnLst/>
            <a:rect r="r" b="b" t="t" l="l"/>
            <a:pathLst>
              <a:path h="2589027" w="2658068">
                <a:moveTo>
                  <a:pt x="0" y="0"/>
                </a:moveTo>
                <a:lnTo>
                  <a:pt x="2658067" y="0"/>
                </a:lnTo>
                <a:lnTo>
                  <a:pt x="2658067" y="2589027"/>
                </a:lnTo>
                <a:lnTo>
                  <a:pt x="0" y="2589027"/>
                </a:lnTo>
                <a:lnTo>
                  <a:pt x="0" y="0"/>
                </a:lnTo>
                <a:close/>
              </a:path>
            </a:pathLst>
          </a:custGeom>
          <a:blipFill>
            <a:blip r:embed="rId4"/>
            <a:stretch>
              <a:fillRect l="-8043" t="-9560" r="-8215" b="-9798"/>
            </a:stretch>
          </a:blipFill>
        </p:spPr>
      </p:sp>
      <p:sp>
        <p:nvSpPr>
          <p:cNvPr name="TextBox 17" id="17"/>
          <p:cNvSpPr txBox="true"/>
          <p:nvPr/>
        </p:nvSpPr>
        <p:spPr>
          <a:xfrm rot="0">
            <a:off x="7696641" y="7122291"/>
            <a:ext cx="2282629" cy="328490"/>
          </a:xfrm>
          <a:prstGeom prst="rect">
            <a:avLst/>
          </a:prstGeom>
        </p:spPr>
        <p:txBody>
          <a:bodyPr anchor="t" rtlCol="false" tIns="0" lIns="0" bIns="0" rIns="0">
            <a:spAutoFit/>
          </a:bodyPr>
          <a:lstStyle/>
          <a:p>
            <a:pPr algn="just">
              <a:lnSpc>
                <a:spcPts val="2706"/>
              </a:lnSpc>
            </a:pPr>
            <a:r>
              <a:rPr lang="en-US" sz="1932">
                <a:solidFill>
                  <a:srgbClr val="000000"/>
                </a:solidFill>
                <a:latin typeface="Alike"/>
                <a:ea typeface="Alike"/>
                <a:cs typeface="Alike"/>
                <a:sym typeface="Alike"/>
              </a:rPr>
              <a:t>Saut</a:t>
            </a:r>
          </a:p>
        </p:txBody>
      </p:sp>
      <p:sp>
        <p:nvSpPr>
          <p:cNvPr name="TextBox 18" id="18"/>
          <p:cNvSpPr txBox="true"/>
          <p:nvPr/>
        </p:nvSpPr>
        <p:spPr>
          <a:xfrm rot="0">
            <a:off x="480468" y="6250981"/>
            <a:ext cx="1337971" cy="328461"/>
          </a:xfrm>
          <a:prstGeom prst="rect">
            <a:avLst/>
          </a:prstGeom>
        </p:spPr>
        <p:txBody>
          <a:bodyPr anchor="t" rtlCol="false" tIns="0" lIns="0" bIns="0" rIns="0">
            <a:spAutoFit/>
          </a:bodyPr>
          <a:lstStyle/>
          <a:p>
            <a:pPr algn="just">
              <a:lnSpc>
                <a:spcPts val="2706"/>
              </a:lnSpc>
            </a:pPr>
            <a:r>
              <a:rPr lang="en-US" sz="1932">
                <a:solidFill>
                  <a:srgbClr val="000000"/>
                </a:solidFill>
                <a:latin typeface="Alike"/>
                <a:ea typeface="Alike"/>
                <a:cs typeface="Alike"/>
                <a:sym typeface="Alike"/>
              </a:rPr>
              <a:t>Movement</a:t>
            </a:r>
          </a:p>
        </p:txBody>
      </p:sp>
      <p:sp>
        <p:nvSpPr>
          <p:cNvPr name="TextBox 19" id="19"/>
          <p:cNvSpPr txBox="true"/>
          <p:nvPr/>
        </p:nvSpPr>
        <p:spPr>
          <a:xfrm rot="0">
            <a:off x="7386837" y="5383308"/>
            <a:ext cx="1817786" cy="328490"/>
          </a:xfrm>
          <a:prstGeom prst="rect">
            <a:avLst/>
          </a:prstGeom>
        </p:spPr>
        <p:txBody>
          <a:bodyPr anchor="t" rtlCol="false" tIns="0" lIns="0" bIns="0" rIns="0">
            <a:spAutoFit/>
          </a:bodyPr>
          <a:lstStyle/>
          <a:p>
            <a:pPr algn="just">
              <a:lnSpc>
                <a:spcPts val="2706"/>
              </a:lnSpc>
            </a:pPr>
            <a:r>
              <a:rPr lang="en-US" sz="1932">
                <a:solidFill>
                  <a:srgbClr val="000000"/>
                </a:solidFill>
                <a:latin typeface="Alike"/>
                <a:ea typeface="Alike"/>
                <a:cs typeface="Alike"/>
                <a:sym typeface="Alike"/>
              </a:rPr>
              <a:t>Attaque (Tap)</a:t>
            </a:r>
          </a:p>
        </p:txBody>
      </p:sp>
      <p:sp>
        <p:nvSpPr>
          <p:cNvPr name="TextBox 20" id="20"/>
          <p:cNvSpPr txBox="true"/>
          <p:nvPr/>
        </p:nvSpPr>
        <p:spPr>
          <a:xfrm rot="0">
            <a:off x="1067394" y="857250"/>
            <a:ext cx="1411442" cy="1566500"/>
          </a:xfrm>
          <a:prstGeom prst="rect">
            <a:avLst/>
          </a:prstGeom>
        </p:spPr>
        <p:txBody>
          <a:bodyPr anchor="t" rtlCol="false" tIns="0" lIns="0" bIns="0" rIns="0">
            <a:spAutoFit/>
          </a:bodyPr>
          <a:lstStyle/>
          <a:p>
            <a:pPr algn="ctr">
              <a:lnSpc>
                <a:spcPts val="12880"/>
              </a:lnSpc>
            </a:pPr>
            <a:r>
              <a:rPr lang="en-US" sz="9200" b="true">
                <a:solidFill>
                  <a:srgbClr val="000000"/>
                </a:solidFill>
                <a:latin typeface="Open Sans 1 Bold"/>
                <a:ea typeface="Open Sans 1 Bold"/>
                <a:cs typeface="Open Sans 1 Bold"/>
                <a:sym typeface="Open Sans 1 Bold"/>
              </a:rPr>
              <a:t>3C</a:t>
            </a:r>
          </a:p>
        </p:txBody>
      </p:sp>
      <p:sp>
        <p:nvSpPr>
          <p:cNvPr name="TextBox 21" id="21"/>
          <p:cNvSpPr txBox="true"/>
          <p:nvPr/>
        </p:nvSpPr>
        <p:spPr>
          <a:xfrm rot="0">
            <a:off x="1028700" y="2328500"/>
            <a:ext cx="2788709" cy="887117"/>
          </a:xfrm>
          <a:prstGeom prst="rect">
            <a:avLst/>
          </a:prstGeom>
        </p:spPr>
        <p:txBody>
          <a:bodyPr anchor="t" rtlCol="false" tIns="0" lIns="0" bIns="0" rIns="0">
            <a:spAutoFit/>
          </a:bodyPr>
          <a:lstStyle/>
          <a:p>
            <a:pPr algn="ctr">
              <a:lnSpc>
                <a:spcPts val="7279"/>
              </a:lnSpc>
            </a:pPr>
            <a:r>
              <a:rPr lang="en-US" sz="5199" b="true">
                <a:solidFill>
                  <a:srgbClr val="000000"/>
                </a:solidFill>
                <a:latin typeface="Open Sans 1 Bold"/>
                <a:ea typeface="Open Sans 1 Bold"/>
                <a:cs typeface="Open Sans 1 Bold"/>
                <a:sym typeface="Open Sans 1 Bold"/>
              </a:rPr>
              <a:t>Controls</a:t>
            </a:r>
          </a:p>
        </p:txBody>
      </p:sp>
      <p:sp>
        <p:nvSpPr>
          <p:cNvPr name="TextBox 22" id="22"/>
          <p:cNvSpPr txBox="true"/>
          <p:nvPr/>
        </p:nvSpPr>
        <p:spPr>
          <a:xfrm rot="0">
            <a:off x="14371912" y="4737056"/>
            <a:ext cx="788351" cy="406444"/>
          </a:xfrm>
          <a:prstGeom prst="rect">
            <a:avLst/>
          </a:prstGeom>
        </p:spPr>
        <p:txBody>
          <a:bodyPr anchor="t" rtlCol="false" tIns="0" lIns="0" bIns="0" rIns="0">
            <a:spAutoFit/>
          </a:bodyPr>
          <a:lstStyle/>
          <a:p>
            <a:pPr algn="just">
              <a:lnSpc>
                <a:spcPts val="3343"/>
              </a:lnSpc>
            </a:pPr>
            <a:r>
              <a:rPr lang="en-US" sz="2388" i="true">
                <a:solidFill>
                  <a:srgbClr val="000000"/>
                </a:solidFill>
                <a:latin typeface="Alike Italics"/>
                <a:ea typeface="Alike Italics"/>
                <a:cs typeface="Alike Italics"/>
                <a:sym typeface="Alike Italics"/>
              </a:rPr>
              <a:t>Saut</a:t>
            </a:r>
          </a:p>
        </p:txBody>
      </p:sp>
      <p:sp>
        <p:nvSpPr>
          <p:cNvPr name="TextBox 23" id="23"/>
          <p:cNvSpPr txBox="true"/>
          <p:nvPr/>
        </p:nvSpPr>
        <p:spPr>
          <a:xfrm rot="0">
            <a:off x="524954" y="3953560"/>
            <a:ext cx="1671726" cy="580368"/>
          </a:xfrm>
          <a:prstGeom prst="rect">
            <a:avLst/>
          </a:prstGeom>
        </p:spPr>
        <p:txBody>
          <a:bodyPr anchor="t" rtlCol="false" tIns="0" lIns="0" bIns="0" rIns="0">
            <a:spAutoFit/>
          </a:bodyPr>
          <a:lstStyle/>
          <a:p>
            <a:pPr algn="ctr" marL="0" indent="0" lvl="0">
              <a:lnSpc>
                <a:spcPts val="4759"/>
              </a:lnSpc>
              <a:spcBef>
                <a:spcPct val="0"/>
              </a:spcBef>
            </a:pPr>
            <a:r>
              <a:rPr lang="en-US" sz="3399">
                <a:solidFill>
                  <a:srgbClr val="000000"/>
                </a:solidFill>
                <a:latin typeface="Open Sans 1"/>
                <a:ea typeface="Open Sans 1"/>
                <a:cs typeface="Open Sans 1"/>
                <a:sym typeface="Open Sans 1"/>
              </a:rPr>
              <a:t>A tester:</a:t>
            </a:r>
          </a:p>
        </p:txBody>
      </p:sp>
      <p:sp>
        <p:nvSpPr>
          <p:cNvPr name="AutoShape 24" id="24"/>
          <p:cNvSpPr/>
          <p:nvPr/>
        </p:nvSpPr>
        <p:spPr>
          <a:xfrm flipV="true">
            <a:off x="13926070" y="6618434"/>
            <a:ext cx="0" cy="1090803"/>
          </a:xfrm>
          <a:prstGeom prst="line">
            <a:avLst/>
          </a:prstGeom>
          <a:ln cap="flat" w="47625">
            <a:solidFill>
              <a:srgbClr val="353535"/>
            </a:solidFill>
            <a:prstDash val="solid"/>
            <a:headEnd type="none" len="sm" w="sm"/>
            <a:tailEnd type="arrow" len="sm" w="med"/>
          </a:ln>
        </p:spPr>
      </p:sp>
      <p:sp>
        <p:nvSpPr>
          <p:cNvPr name="TextBox 25" id="25"/>
          <p:cNvSpPr txBox="true"/>
          <p:nvPr/>
        </p:nvSpPr>
        <p:spPr>
          <a:xfrm rot="0">
            <a:off x="13290252" y="6066810"/>
            <a:ext cx="1271636" cy="406444"/>
          </a:xfrm>
          <a:prstGeom prst="rect">
            <a:avLst/>
          </a:prstGeom>
        </p:spPr>
        <p:txBody>
          <a:bodyPr anchor="t" rtlCol="false" tIns="0" lIns="0" bIns="0" rIns="0">
            <a:spAutoFit/>
          </a:bodyPr>
          <a:lstStyle/>
          <a:p>
            <a:pPr algn="just">
              <a:lnSpc>
                <a:spcPts val="3343"/>
              </a:lnSpc>
            </a:pPr>
            <a:r>
              <a:rPr lang="en-US" sz="2388" i="true">
                <a:solidFill>
                  <a:srgbClr val="000000"/>
                </a:solidFill>
                <a:latin typeface="Alike Italics"/>
                <a:ea typeface="Alike Italics"/>
                <a:cs typeface="Alike Italics"/>
                <a:sym typeface="Alike Italics"/>
              </a:rPr>
              <a:t>Attaque</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918850" y="4274525"/>
            <a:ext cx="12450301" cy="1566500"/>
          </a:xfrm>
          <a:prstGeom prst="rect">
            <a:avLst/>
          </a:prstGeom>
        </p:spPr>
        <p:txBody>
          <a:bodyPr anchor="t" rtlCol="false" tIns="0" lIns="0" bIns="0" rIns="0">
            <a:spAutoFit/>
          </a:bodyPr>
          <a:lstStyle/>
          <a:p>
            <a:pPr algn="ctr">
              <a:lnSpc>
                <a:spcPts val="12880"/>
              </a:lnSpc>
            </a:pPr>
            <a:r>
              <a:rPr lang="en-US" sz="9200" b="true">
                <a:solidFill>
                  <a:srgbClr val="000000"/>
                </a:solidFill>
                <a:latin typeface="Open Sans 1 Bold"/>
                <a:ea typeface="Open Sans 1 Bold"/>
                <a:cs typeface="Open Sans 1 Bold"/>
                <a:sym typeface="Open Sans 1 Bold"/>
              </a:rPr>
              <a:t>Gam</a:t>
            </a:r>
            <a:r>
              <a:rPr lang="en-US" b="true" sz="9200">
                <a:solidFill>
                  <a:srgbClr val="000000"/>
                </a:solidFill>
                <a:latin typeface="Open Sans 1 Bold"/>
                <a:ea typeface="Open Sans 1 Bold"/>
                <a:cs typeface="Open Sans 1 Bold"/>
                <a:sym typeface="Open Sans 1 Bold"/>
              </a:rPr>
              <a:t>e Design Feature</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650795" y="4096528"/>
            <a:ext cx="15981863" cy="1813376"/>
            <a:chOff x="0" y="0"/>
            <a:chExt cx="4209215" cy="477597"/>
          </a:xfrm>
        </p:grpSpPr>
        <p:sp>
          <p:nvSpPr>
            <p:cNvPr name="Freeform 3" id="3"/>
            <p:cNvSpPr/>
            <p:nvPr/>
          </p:nvSpPr>
          <p:spPr>
            <a:xfrm flipH="false" flipV="false" rot="0">
              <a:off x="0" y="0"/>
              <a:ext cx="4209215" cy="477597"/>
            </a:xfrm>
            <a:custGeom>
              <a:avLst/>
              <a:gdLst/>
              <a:ahLst/>
              <a:cxnLst/>
              <a:rect r="r" b="b" t="t" l="l"/>
              <a:pathLst>
                <a:path h="477597" w="4209215">
                  <a:moveTo>
                    <a:pt x="24705" y="0"/>
                  </a:moveTo>
                  <a:lnTo>
                    <a:pt x="4184509" y="0"/>
                  </a:lnTo>
                  <a:cubicBezTo>
                    <a:pt x="4191062" y="0"/>
                    <a:pt x="4197346" y="2603"/>
                    <a:pt x="4201979" y="7236"/>
                  </a:cubicBezTo>
                  <a:cubicBezTo>
                    <a:pt x="4206612" y="11869"/>
                    <a:pt x="4209215" y="18153"/>
                    <a:pt x="4209215" y="24705"/>
                  </a:cubicBezTo>
                  <a:lnTo>
                    <a:pt x="4209215" y="452892"/>
                  </a:lnTo>
                  <a:cubicBezTo>
                    <a:pt x="4209215" y="459444"/>
                    <a:pt x="4206612" y="465728"/>
                    <a:pt x="4201979" y="470361"/>
                  </a:cubicBezTo>
                  <a:cubicBezTo>
                    <a:pt x="4197346" y="474994"/>
                    <a:pt x="4191062" y="477597"/>
                    <a:pt x="4184509" y="477597"/>
                  </a:cubicBezTo>
                  <a:lnTo>
                    <a:pt x="24705" y="477597"/>
                  </a:lnTo>
                  <a:cubicBezTo>
                    <a:pt x="18153" y="477597"/>
                    <a:pt x="11869" y="474994"/>
                    <a:pt x="7236" y="470361"/>
                  </a:cubicBezTo>
                  <a:cubicBezTo>
                    <a:pt x="2603" y="465728"/>
                    <a:pt x="0" y="459444"/>
                    <a:pt x="0" y="452892"/>
                  </a:cubicBezTo>
                  <a:lnTo>
                    <a:pt x="0" y="24705"/>
                  </a:lnTo>
                  <a:cubicBezTo>
                    <a:pt x="0" y="18153"/>
                    <a:pt x="2603" y="11869"/>
                    <a:pt x="7236" y="7236"/>
                  </a:cubicBezTo>
                  <a:cubicBezTo>
                    <a:pt x="11869" y="2603"/>
                    <a:pt x="18153" y="0"/>
                    <a:pt x="24705" y="0"/>
                  </a:cubicBezTo>
                  <a:close/>
                </a:path>
              </a:pathLst>
            </a:custGeom>
            <a:solidFill>
              <a:srgbClr val="AF0010"/>
            </a:solidFill>
          </p:spPr>
        </p:sp>
        <p:sp>
          <p:nvSpPr>
            <p:cNvPr name="TextBox 4" id="4"/>
            <p:cNvSpPr txBox="true"/>
            <p:nvPr/>
          </p:nvSpPr>
          <p:spPr>
            <a:xfrm>
              <a:off x="0" y="-38100"/>
              <a:ext cx="4209215" cy="515697"/>
            </a:xfrm>
            <a:prstGeom prst="rect">
              <a:avLst/>
            </a:prstGeom>
          </p:spPr>
          <p:txBody>
            <a:bodyPr anchor="ctr" rtlCol="false" tIns="50800" lIns="50800" bIns="50800" rIns="50800"/>
            <a:lstStyle/>
            <a:p>
              <a:pPr algn="ctr">
                <a:lnSpc>
                  <a:spcPts val="2706"/>
                </a:lnSpc>
              </a:pPr>
            </a:p>
          </p:txBody>
        </p:sp>
      </p:grpSp>
      <p:sp>
        <p:nvSpPr>
          <p:cNvPr name="TextBox 5" id="5"/>
          <p:cNvSpPr txBox="true"/>
          <p:nvPr/>
        </p:nvSpPr>
        <p:spPr>
          <a:xfrm rot="0">
            <a:off x="1028700" y="857250"/>
            <a:ext cx="12450301" cy="1566500"/>
          </a:xfrm>
          <a:prstGeom prst="rect">
            <a:avLst/>
          </a:prstGeom>
        </p:spPr>
        <p:txBody>
          <a:bodyPr anchor="t" rtlCol="false" tIns="0" lIns="0" bIns="0" rIns="0">
            <a:spAutoFit/>
          </a:bodyPr>
          <a:lstStyle/>
          <a:p>
            <a:pPr algn="just">
              <a:lnSpc>
                <a:spcPts val="12880"/>
              </a:lnSpc>
            </a:pPr>
            <a:r>
              <a:rPr lang="en-US" sz="9200" b="true">
                <a:solidFill>
                  <a:srgbClr val="000000"/>
                </a:solidFill>
                <a:latin typeface="Open Sans 1 Bold"/>
                <a:ea typeface="Open Sans 1 Bold"/>
                <a:cs typeface="Open Sans 1 Bold"/>
                <a:sym typeface="Open Sans 1 Bold"/>
              </a:rPr>
              <a:t>Game Design Feature</a:t>
            </a:r>
          </a:p>
        </p:txBody>
      </p:sp>
      <p:sp>
        <p:nvSpPr>
          <p:cNvPr name="TextBox 6" id="6"/>
          <p:cNvSpPr txBox="true"/>
          <p:nvPr/>
        </p:nvSpPr>
        <p:spPr>
          <a:xfrm rot="0">
            <a:off x="1028700" y="2328500"/>
            <a:ext cx="12450301" cy="887117"/>
          </a:xfrm>
          <a:prstGeom prst="rect">
            <a:avLst/>
          </a:prstGeom>
        </p:spPr>
        <p:txBody>
          <a:bodyPr anchor="t" rtlCol="false" tIns="0" lIns="0" bIns="0" rIns="0">
            <a:spAutoFit/>
          </a:bodyPr>
          <a:lstStyle/>
          <a:p>
            <a:pPr algn="just">
              <a:lnSpc>
                <a:spcPts val="7279"/>
              </a:lnSpc>
            </a:pPr>
            <a:r>
              <a:rPr lang="en-US" sz="5199" b="true">
                <a:solidFill>
                  <a:srgbClr val="000000"/>
                </a:solidFill>
                <a:latin typeface="Open Sans 1 Bold"/>
                <a:ea typeface="Open Sans 1 Bold"/>
                <a:cs typeface="Open Sans 1 Bold"/>
                <a:sym typeface="Open Sans 1 Bold"/>
              </a:rPr>
              <a:t>Movement</a:t>
            </a:r>
          </a:p>
        </p:txBody>
      </p:sp>
      <p:sp>
        <p:nvSpPr>
          <p:cNvPr name="TextBox 7" id="7"/>
          <p:cNvSpPr txBox="true"/>
          <p:nvPr/>
        </p:nvSpPr>
        <p:spPr>
          <a:xfrm rot="0">
            <a:off x="1028700" y="4070944"/>
            <a:ext cx="12450301" cy="887117"/>
          </a:xfrm>
          <a:prstGeom prst="rect">
            <a:avLst/>
          </a:prstGeom>
        </p:spPr>
        <p:txBody>
          <a:bodyPr anchor="t" rtlCol="false" tIns="0" lIns="0" bIns="0" rIns="0">
            <a:spAutoFit/>
          </a:bodyPr>
          <a:lstStyle/>
          <a:p>
            <a:pPr algn="just">
              <a:lnSpc>
                <a:spcPts val="7279"/>
              </a:lnSpc>
            </a:pPr>
            <a:r>
              <a:rPr lang="en-US" sz="5199" b="true">
                <a:solidFill>
                  <a:srgbClr val="000000"/>
                </a:solidFill>
                <a:latin typeface="Open Sans 1 Bold"/>
                <a:ea typeface="Open Sans 1 Bold"/>
                <a:cs typeface="Open Sans 1 Bold"/>
                <a:sym typeface="Open Sans 1 Bold"/>
              </a:rPr>
              <a:t>Double saut</a:t>
            </a:r>
          </a:p>
        </p:txBody>
      </p:sp>
      <p:grpSp>
        <p:nvGrpSpPr>
          <p:cNvPr name="Group 8" id="8"/>
          <p:cNvGrpSpPr/>
          <p:nvPr/>
        </p:nvGrpSpPr>
        <p:grpSpPr>
          <a:xfrm rot="0">
            <a:off x="650795" y="5909904"/>
            <a:ext cx="15981863" cy="1720471"/>
            <a:chOff x="0" y="0"/>
            <a:chExt cx="4209215" cy="453128"/>
          </a:xfrm>
        </p:grpSpPr>
        <p:sp>
          <p:nvSpPr>
            <p:cNvPr name="Freeform 9" id="9"/>
            <p:cNvSpPr/>
            <p:nvPr/>
          </p:nvSpPr>
          <p:spPr>
            <a:xfrm flipH="false" flipV="false" rot="0">
              <a:off x="0" y="0"/>
              <a:ext cx="4209215" cy="453128"/>
            </a:xfrm>
            <a:custGeom>
              <a:avLst/>
              <a:gdLst/>
              <a:ahLst/>
              <a:cxnLst/>
              <a:rect r="r" b="b" t="t" l="l"/>
              <a:pathLst>
                <a:path h="453128" w="4209215">
                  <a:moveTo>
                    <a:pt x="24705" y="0"/>
                  </a:moveTo>
                  <a:lnTo>
                    <a:pt x="4184509" y="0"/>
                  </a:lnTo>
                  <a:cubicBezTo>
                    <a:pt x="4191062" y="0"/>
                    <a:pt x="4197346" y="2603"/>
                    <a:pt x="4201979" y="7236"/>
                  </a:cubicBezTo>
                  <a:cubicBezTo>
                    <a:pt x="4206612" y="11869"/>
                    <a:pt x="4209215" y="18153"/>
                    <a:pt x="4209215" y="24705"/>
                  </a:cubicBezTo>
                  <a:lnTo>
                    <a:pt x="4209215" y="428423"/>
                  </a:lnTo>
                  <a:cubicBezTo>
                    <a:pt x="4209215" y="442067"/>
                    <a:pt x="4198154" y="453128"/>
                    <a:pt x="4184509" y="453128"/>
                  </a:cubicBezTo>
                  <a:lnTo>
                    <a:pt x="24705" y="453128"/>
                  </a:lnTo>
                  <a:cubicBezTo>
                    <a:pt x="18153" y="453128"/>
                    <a:pt x="11869" y="450525"/>
                    <a:pt x="7236" y="445892"/>
                  </a:cubicBezTo>
                  <a:cubicBezTo>
                    <a:pt x="2603" y="441259"/>
                    <a:pt x="0" y="434975"/>
                    <a:pt x="0" y="428423"/>
                  </a:cubicBezTo>
                  <a:lnTo>
                    <a:pt x="0" y="24705"/>
                  </a:lnTo>
                  <a:cubicBezTo>
                    <a:pt x="0" y="18153"/>
                    <a:pt x="2603" y="11869"/>
                    <a:pt x="7236" y="7236"/>
                  </a:cubicBezTo>
                  <a:cubicBezTo>
                    <a:pt x="11869" y="2603"/>
                    <a:pt x="18153" y="0"/>
                    <a:pt x="24705" y="0"/>
                  </a:cubicBezTo>
                  <a:close/>
                </a:path>
              </a:pathLst>
            </a:custGeom>
            <a:solidFill>
              <a:srgbClr val="A8AFE4"/>
            </a:solidFill>
            <a:ln cap="rnd">
              <a:noFill/>
              <a:prstDash val="solid"/>
              <a:round/>
            </a:ln>
          </p:spPr>
        </p:sp>
        <p:sp>
          <p:nvSpPr>
            <p:cNvPr name="TextBox 10" id="10"/>
            <p:cNvSpPr txBox="true"/>
            <p:nvPr/>
          </p:nvSpPr>
          <p:spPr>
            <a:xfrm>
              <a:off x="0" y="-38100"/>
              <a:ext cx="4209215" cy="491228"/>
            </a:xfrm>
            <a:prstGeom prst="rect">
              <a:avLst/>
            </a:prstGeom>
          </p:spPr>
          <p:txBody>
            <a:bodyPr anchor="ctr" rtlCol="false" tIns="50800" lIns="50800" bIns="50800" rIns="50800"/>
            <a:lstStyle/>
            <a:p>
              <a:pPr algn="l">
                <a:lnSpc>
                  <a:spcPts val="2706"/>
                </a:lnSpc>
              </a:pPr>
            </a:p>
          </p:txBody>
        </p:sp>
      </p:grpSp>
      <p:sp>
        <p:nvSpPr>
          <p:cNvPr name="TextBox 11" id="11"/>
          <p:cNvSpPr txBox="true"/>
          <p:nvPr/>
        </p:nvSpPr>
        <p:spPr>
          <a:xfrm rot="0">
            <a:off x="1028700" y="5814654"/>
            <a:ext cx="12450301" cy="887117"/>
          </a:xfrm>
          <a:prstGeom prst="rect">
            <a:avLst/>
          </a:prstGeom>
        </p:spPr>
        <p:txBody>
          <a:bodyPr anchor="t" rtlCol="false" tIns="0" lIns="0" bIns="0" rIns="0">
            <a:spAutoFit/>
          </a:bodyPr>
          <a:lstStyle/>
          <a:p>
            <a:pPr algn="just">
              <a:lnSpc>
                <a:spcPts val="7279"/>
              </a:lnSpc>
            </a:pPr>
            <a:r>
              <a:rPr lang="en-US" sz="5199" b="true">
                <a:solidFill>
                  <a:srgbClr val="000000"/>
                </a:solidFill>
                <a:latin typeface="Open Sans 1 Bold"/>
                <a:ea typeface="Open Sans 1 Bold"/>
                <a:cs typeface="Open Sans 1 Bold"/>
                <a:sym typeface="Open Sans 1 Bold"/>
              </a:rPr>
              <a:t>Pousser &amp; tirer</a:t>
            </a:r>
          </a:p>
        </p:txBody>
      </p:sp>
      <p:sp>
        <p:nvSpPr>
          <p:cNvPr name="TextBox 12" id="12"/>
          <p:cNvSpPr txBox="true"/>
          <p:nvPr/>
        </p:nvSpPr>
        <p:spPr>
          <a:xfrm rot="0">
            <a:off x="1028700" y="7558364"/>
            <a:ext cx="12450301" cy="887117"/>
          </a:xfrm>
          <a:prstGeom prst="rect">
            <a:avLst/>
          </a:prstGeom>
        </p:spPr>
        <p:txBody>
          <a:bodyPr anchor="t" rtlCol="false" tIns="0" lIns="0" bIns="0" rIns="0">
            <a:spAutoFit/>
          </a:bodyPr>
          <a:lstStyle/>
          <a:p>
            <a:pPr algn="just">
              <a:lnSpc>
                <a:spcPts val="7279"/>
              </a:lnSpc>
            </a:pPr>
            <a:r>
              <a:rPr lang="en-US" sz="5199" b="true">
                <a:solidFill>
                  <a:srgbClr val="000000"/>
                </a:solidFill>
                <a:latin typeface="Open Sans 1 Bold"/>
                <a:ea typeface="Open Sans 1 Bold"/>
                <a:cs typeface="Open Sans 1 Bold"/>
                <a:sym typeface="Open Sans 1 Bold"/>
              </a:rPr>
              <a:t>Attaque</a:t>
            </a:r>
          </a:p>
        </p:txBody>
      </p:sp>
      <p:sp>
        <p:nvSpPr>
          <p:cNvPr name="TextBox 13" id="13"/>
          <p:cNvSpPr txBox="true"/>
          <p:nvPr/>
        </p:nvSpPr>
        <p:spPr>
          <a:xfrm rot="0">
            <a:off x="1028700" y="3366751"/>
            <a:ext cx="13038777" cy="580368"/>
          </a:xfrm>
          <a:prstGeom prst="rect">
            <a:avLst/>
          </a:prstGeom>
        </p:spPr>
        <p:txBody>
          <a:bodyPr anchor="t" rtlCol="false" tIns="0" lIns="0" bIns="0" rIns="0">
            <a:spAutoFit/>
          </a:bodyPr>
          <a:lstStyle/>
          <a:p>
            <a:pPr algn="just">
              <a:lnSpc>
                <a:spcPts val="4759"/>
              </a:lnSpc>
            </a:pPr>
            <a:r>
              <a:rPr lang="en-US" sz="3399">
                <a:solidFill>
                  <a:srgbClr val="000000"/>
                </a:solidFill>
                <a:latin typeface="Open Sans 1"/>
                <a:ea typeface="Open Sans 1"/>
                <a:cs typeface="Open Sans 1"/>
                <a:sym typeface="Open Sans 1"/>
              </a:rPr>
              <a:t>Movement avant et arrière, vers la gauche ou la droite de l’écran.</a:t>
            </a:r>
          </a:p>
        </p:txBody>
      </p:sp>
      <p:sp>
        <p:nvSpPr>
          <p:cNvPr name="TextBox 14" id="14"/>
          <p:cNvSpPr txBox="true"/>
          <p:nvPr/>
        </p:nvSpPr>
        <p:spPr>
          <a:xfrm rot="0">
            <a:off x="1028700" y="5110461"/>
            <a:ext cx="7185312" cy="580368"/>
          </a:xfrm>
          <a:prstGeom prst="rect">
            <a:avLst/>
          </a:prstGeom>
        </p:spPr>
        <p:txBody>
          <a:bodyPr anchor="t" rtlCol="false" tIns="0" lIns="0" bIns="0" rIns="0">
            <a:spAutoFit/>
          </a:bodyPr>
          <a:lstStyle/>
          <a:p>
            <a:pPr algn="just">
              <a:lnSpc>
                <a:spcPts val="4759"/>
              </a:lnSpc>
            </a:pPr>
            <a:r>
              <a:rPr lang="en-US" sz="3399">
                <a:solidFill>
                  <a:srgbClr val="000000"/>
                </a:solidFill>
                <a:latin typeface="Open Sans 1"/>
                <a:ea typeface="Open Sans 1"/>
                <a:cs typeface="Open Sans 1"/>
                <a:sym typeface="Open Sans 1"/>
              </a:rPr>
              <a:t>Double saut en plus du saut simple.</a:t>
            </a:r>
          </a:p>
        </p:txBody>
      </p:sp>
      <p:sp>
        <p:nvSpPr>
          <p:cNvPr name="TextBox 15" id="15"/>
          <p:cNvSpPr txBox="true"/>
          <p:nvPr/>
        </p:nvSpPr>
        <p:spPr>
          <a:xfrm rot="0">
            <a:off x="1028700" y="8597881"/>
            <a:ext cx="8881732" cy="580368"/>
          </a:xfrm>
          <a:prstGeom prst="rect">
            <a:avLst/>
          </a:prstGeom>
        </p:spPr>
        <p:txBody>
          <a:bodyPr anchor="t" rtlCol="false" tIns="0" lIns="0" bIns="0" rIns="0">
            <a:spAutoFit/>
          </a:bodyPr>
          <a:lstStyle/>
          <a:p>
            <a:pPr algn="just">
              <a:lnSpc>
                <a:spcPts val="4759"/>
              </a:lnSpc>
            </a:pPr>
            <a:r>
              <a:rPr lang="en-US" sz="3399">
                <a:solidFill>
                  <a:srgbClr val="000000"/>
                </a:solidFill>
                <a:latin typeface="Open Sans 1"/>
                <a:ea typeface="Open Sans 1"/>
                <a:cs typeface="Open Sans 1"/>
                <a:sym typeface="Open Sans 1"/>
              </a:rPr>
              <a:t>Attaque simple pour assommer un ennemie</a:t>
            </a:r>
          </a:p>
        </p:txBody>
      </p:sp>
      <p:sp>
        <p:nvSpPr>
          <p:cNvPr name="TextBox 16" id="16"/>
          <p:cNvSpPr txBox="true"/>
          <p:nvPr/>
        </p:nvSpPr>
        <p:spPr>
          <a:xfrm rot="0">
            <a:off x="1028700" y="6854171"/>
            <a:ext cx="16230600" cy="580368"/>
          </a:xfrm>
          <a:prstGeom prst="rect">
            <a:avLst/>
          </a:prstGeom>
        </p:spPr>
        <p:txBody>
          <a:bodyPr anchor="t" rtlCol="false" tIns="0" lIns="0" bIns="0" rIns="0">
            <a:spAutoFit/>
          </a:bodyPr>
          <a:lstStyle/>
          <a:p>
            <a:pPr algn="just">
              <a:lnSpc>
                <a:spcPts val="4759"/>
              </a:lnSpc>
            </a:pPr>
            <a:r>
              <a:rPr lang="en-US" sz="3399">
                <a:solidFill>
                  <a:srgbClr val="000000"/>
                </a:solidFill>
                <a:latin typeface="Open Sans 1"/>
                <a:ea typeface="Open Sans 1"/>
                <a:cs typeface="Open Sans 1"/>
                <a:sym typeface="Open Sans 1"/>
              </a:rPr>
              <a:t>Possibilité de déplacer des caisses pour monter dessue ou les faire tomber</a:t>
            </a:r>
          </a:p>
        </p:txBody>
      </p:sp>
      <p:sp>
        <p:nvSpPr>
          <p:cNvPr name="TextBox 17" id="17"/>
          <p:cNvSpPr txBox="true"/>
          <p:nvPr/>
        </p:nvSpPr>
        <p:spPr>
          <a:xfrm rot="0">
            <a:off x="13820353" y="4588889"/>
            <a:ext cx="1739195" cy="752454"/>
          </a:xfrm>
          <a:prstGeom prst="rect">
            <a:avLst/>
          </a:prstGeom>
        </p:spPr>
        <p:txBody>
          <a:bodyPr anchor="t" rtlCol="false" tIns="0" lIns="0" bIns="0" rIns="0">
            <a:spAutoFit/>
          </a:bodyPr>
          <a:lstStyle/>
          <a:p>
            <a:pPr algn="ctr" marL="0" indent="0" lvl="0">
              <a:lnSpc>
                <a:spcPts val="6299"/>
              </a:lnSpc>
              <a:spcBef>
                <a:spcPct val="0"/>
              </a:spcBef>
            </a:pPr>
            <a:r>
              <a:rPr lang="en-US" sz="4499" i="true" u="sng">
                <a:solidFill>
                  <a:srgbClr val="FFFFFF"/>
                </a:solidFill>
                <a:latin typeface="Open Sans 1 Italics"/>
                <a:ea typeface="Open Sans 1 Italics"/>
                <a:cs typeface="Open Sans 1 Italics"/>
                <a:sym typeface="Open Sans 1 Italics"/>
              </a:rPr>
              <a:t>annulé</a:t>
            </a:r>
          </a:p>
        </p:txBody>
      </p:sp>
      <p:sp>
        <p:nvSpPr>
          <p:cNvPr name="TextBox 18" id="18"/>
          <p:cNvSpPr txBox="true"/>
          <p:nvPr/>
        </p:nvSpPr>
        <p:spPr>
          <a:xfrm rot="0">
            <a:off x="13830000" y="6001048"/>
            <a:ext cx="1719902" cy="752454"/>
          </a:xfrm>
          <a:prstGeom prst="rect">
            <a:avLst/>
          </a:prstGeom>
        </p:spPr>
        <p:txBody>
          <a:bodyPr anchor="t" rtlCol="false" tIns="0" lIns="0" bIns="0" rIns="0">
            <a:spAutoFit/>
          </a:bodyPr>
          <a:lstStyle/>
          <a:p>
            <a:pPr algn="ctr" marL="0" indent="0" lvl="0">
              <a:lnSpc>
                <a:spcPts val="6299"/>
              </a:lnSpc>
              <a:spcBef>
                <a:spcPct val="0"/>
              </a:spcBef>
            </a:pPr>
            <a:r>
              <a:rPr lang="en-US" sz="4499">
                <a:solidFill>
                  <a:srgbClr val="000000"/>
                </a:solidFill>
                <a:latin typeface="Open Sans 1"/>
                <a:ea typeface="Open Sans 1"/>
                <a:cs typeface="Open Sans 1"/>
                <a:sym typeface="Open Sans 1"/>
              </a:rPr>
              <a:t>A faire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857250"/>
            <a:ext cx="12450301" cy="1566500"/>
          </a:xfrm>
          <a:prstGeom prst="rect">
            <a:avLst/>
          </a:prstGeom>
        </p:spPr>
        <p:txBody>
          <a:bodyPr anchor="t" rtlCol="false" tIns="0" lIns="0" bIns="0" rIns="0">
            <a:spAutoFit/>
          </a:bodyPr>
          <a:lstStyle/>
          <a:p>
            <a:pPr algn="ctr">
              <a:lnSpc>
                <a:spcPts val="12880"/>
              </a:lnSpc>
            </a:pPr>
            <a:r>
              <a:rPr lang="en-US" sz="9200" b="true">
                <a:solidFill>
                  <a:srgbClr val="000000"/>
                </a:solidFill>
                <a:latin typeface="Open Sans 1 Bold"/>
                <a:ea typeface="Open Sans 1 Bold"/>
                <a:cs typeface="Open Sans 1 Bold"/>
                <a:sym typeface="Open Sans 1 Bold"/>
              </a:rPr>
              <a:t>Game Design Feature</a:t>
            </a:r>
          </a:p>
        </p:txBody>
      </p:sp>
      <p:sp>
        <p:nvSpPr>
          <p:cNvPr name="TextBox 3" id="3"/>
          <p:cNvSpPr txBox="true"/>
          <p:nvPr/>
        </p:nvSpPr>
        <p:spPr>
          <a:xfrm rot="0">
            <a:off x="1028700" y="2328500"/>
            <a:ext cx="12450301" cy="887117"/>
          </a:xfrm>
          <a:prstGeom prst="rect">
            <a:avLst/>
          </a:prstGeom>
        </p:spPr>
        <p:txBody>
          <a:bodyPr anchor="t" rtlCol="false" tIns="0" lIns="0" bIns="0" rIns="0">
            <a:spAutoFit/>
          </a:bodyPr>
          <a:lstStyle/>
          <a:p>
            <a:pPr algn="l">
              <a:lnSpc>
                <a:spcPts val="7279"/>
              </a:lnSpc>
            </a:pPr>
            <a:r>
              <a:rPr lang="en-US" sz="5199" b="true">
                <a:solidFill>
                  <a:srgbClr val="000000"/>
                </a:solidFill>
                <a:latin typeface="Open Sans 1 Bold"/>
                <a:ea typeface="Open Sans 1 Bold"/>
                <a:cs typeface="Open Sans 1 Bold"/>
                <a:sym typeface="Open Sans 1 Bold"/>
              </a:rPr>
              <a:t>Enemy “chat placide”</a:t>
            </a:r>
          </a:p>
        </p:txBody>
      </p:sp>
      <p:sp>
        <p:nvSpPr>
          <p:cNvPr name="TextBox 4" id="4"/>
          <p:cNvSpPr txBox="true"/>
          <p:nvPr/>
        </p:nvSpPr>
        <p:spPr>
          <a:xfrm rot="0">
            <a:off x="1028700" y="3120367"/>
            <a:ext cx="12450301" cy="887117"/>
          </a:xfrm>
          <a:prstGeom prst="rect">
            <a:avLst/>
          </a:prstGeom>
        </p:spPr>
        <p:txBody>
          <a:bodyPr anchor="t" rtlCol="false" tIns="0" lIns="0" bIns="0" rIns="0">
            <a:spAutoFit/>
          </a:bodyPr>
          <a:lstStyle/>
          <a:p>
            <a:pPr algn="l">
              <a:lnSpc>
                <a:spcPts val="7279"/>
              </a:lnSpc>
            </a:pPr>
            <a:r>
              <a:rPr lang="en-US" sz="5199" b="true">
                <a:solidFill>
                  <a:srgbClr val="000000"/>
                </a:solidFill>
                <a:latin typeface="Open Sans 1 Bold"/>
                <a:ea typeface="Open Sans 1 Bold"/>
                <a:cs typeface="Open Sans 1 Bold"/>
                <a:sym typeface="Open Sans 1 Bold"/>
              </a:rPr>
              <a:t>Détection</a:t>
            </a:r>
          </a:p>
        </p:txBody>
      </p:sp>
      <p:sp>
        <p:nvSpPr>
          <p:cNvPr name="TextBox 5" id="5"/>
          <p:cNvSpPr txBox="true"/>
          <p:nvPr/>
        </p:nvSpPr>
        <p:spPr>
          <a:xfrm rot="0">
            <a:off x="1028700" y="6725884"/>
            <a:ext cx="12450301" cy="887117"/>
          </a:xfrm>
          <a:prstGeom prst="rect">
            <a:avLst/>
          </a:prstGeom>
        </p:spPr>
        <p:txBody>
          <a:bodyPr anchor="t" rtlCol="false" tIns="0" lIns="0" bIns="0" rIns="0">
            <a:spAutoFit/>
          </a:bodyPr>
          <a:lstStyle/>
          <a:p>
            <a:pPr algn="l">
              <a:lnSpc>
                <a:spcPts val="7279"/>
              </a:lnSpc>
            </a:pPr>
            <a:r>
              <a:rPr lang="en-US" sz="5199" b="true">
                <a:solidFill>
                  <a:srgbClr val="000000"/>
                </a:solidFill>
                <a:latin typeface="Open Sans 1 Bold"/>
                <a:ea typeface="Open Sans 1 Bold"/>
                <a:cs typeface="Open Sans 1 Bold"/>
                <a:sym typeface="Open Sans 1 Bold"/>
              </a:rPr>
              <a:t>Attaque</a:t>
            </a:r>
          </a:p>
        </p:txBody>
      </p:sp>
      <p:sp>
        <p:nvSpPr>
          <p:cNvPr name="TextBox 6" id="6"/>
          <p:cNvSpPr txBox="true"/>
          <p:nvPr/>
        </p:nvSpPr>
        <p:spPr>
          <a:xfrm rot="0">
            <a:off x="1028700" y="4192957"/>
            <a:ext cx="10016936" cy="2380527"/>
          </a:xfrm>
          <a:prstGeom prst="rect">
            <a:avLst/>
          </a:prstGeom>
        </p:spPr>
        <p:txBody>
          <a:bodyPr anchor="t" rtlCol="false" tIns="0" lIns="0" bIns="0" rIns="0">
            <a:spAutoFit/>
          </a:bodyPr>
          <a:lstStyle/>
          <a:p>
            <a:pPr algn="just">
              <a:lnSpc>
                <a:spcPts val="4759"/>
              </a:lnSpc>
            </a:pPr>
            <a:r>
              <a:rPr lang="en-US" sz="3399">
                <a:solidFill>
                  <a:srgbClr val="000000"/>
                </a:solidFill>
                <a:latin typeface="Open Sans 1"/>
                <a:ea typeface="Open Sans 1"/>
                <a:cs typeface="Open Sans 1"/>
                <a:sym typeface="Open Sans 1"/>
              </a:rPr>
              <a:t>Le chat placide a une portée de détection visuel mais pas le sens de l’audition.</a:t>
            </a:r>
          </a:p>
          <a:p>
            <a:pPr algn="just">
              <a:lnSpc>
                <a:spcPts val="4759"/>
              </a:lnSpc>
            </a:pPr>
            <a:r>
              <a:rPr lang="en-US" sz="3399">
                <a:solidFill>
                  <a:srgbClr val="000000"/>
                </a:solidFill>
                <a:latin typeface="Open Sans 1"/>
                <a:ea typeface="Open Sans 1"/>
                <a:cs typeface="Open Sans 1"/>
                <a:sym typeface="Open Sans 1"/>
              </a:rPr>
              <a:t>Il se mettra en état d’attaque lors d’un contact visuel.</a:t>
            </a:r>
          </a:p>
        </p:txBody>
      </p:sp>
      <p:sp>
        <p:nvSpPr>
          <p:cNvPr name="TextBox 7" id="7"/>
          <p:cNvSpPr txBox="true"/>
          <p:nvPr/>
        </p:nvSpPr>
        <p:spPr>
          <a:xfrm rot="0">
            <a:off x="1028700" y="7813026"/>
            <a:ext cx="10016936" cy="1180421"/>
          </a:xfrm>
          <a:prstGeom prst="rect">
            <a:avLst/>
          </a:prstGeom>
        </p:spPr>
        <p:txBody>
          <a:bodyPr anchor="t" rtlCol="false" tIns="0" lIns="0" bIns="0" rIns="0">
            <a:spAutoFit/>
          </a:bodyPr>
          <a:lstStyle/>
          <a:p>
            <a:pPr algn="just">
              <a:lnSpc>
                <a:spcPts val="4759"/>
              </a:lnSpc>
            </a:pPr>
            <a:r>
              <a:rPr lang="en-US" sz="3399">
                <a:solidFill>
                  <a:srgbClr val="000000"/>
                </a:solidFill>
                <a:latin typeface="Open Sans 1"/>
                <a:ea typeface="Open Sans 1"/>
                <a:cs typeface="Open Sans 1"/>
                <a:sym typeface="Open Sans 1"/>
              </a:rPr>
              <a:t>Lance des projectiles non létaux qui poussent le joueur en arrière.</a:t>
            </a:r>
          </a:p>
        </p:txBody>
      </p:sp>
      <p:sp>
        <p:nvSpPr>
          <p:cNvPr name="Freeform 8" id="8"/>
          <p:cNvSpPr/>
          <p:nvPr/>
        </p:nvSpPr>
        <p:spPr>
          <a:xfrm flipH="false" flipV="false" rot="0">
            <a:off x="11612724" y="3662632"/>
            <a:ext cx="6212628" cy="6195226"/>
          </a:xfrm>
          <a:custGeom>
            <a:avLst/>
            <a:gdLst/>
            <a:ahLst/>
            <a:cxnLst/>
            <a:rect r="r" b="b" t="t" l="l"/>
            <a:pathLst>
              <a:path h="6195226" w="6212628">
                <a:moveTo>
                  <a:pt x="0" y="0"/>
                </a:moveTo>
                <a:lnTo>
                  <a:pt x="6212628" y="0"/>
                </a:lnTo>
                <a:lnTo>
                  <a:pt x="6212628" y="6195226"/>
                </a:lnTo>
                <a:lnTo>
                  <a:pt x="0" y="6195226"/>
                </a:lnTo>
                <a:lnTo>
                  <a:pt x="0" y="0"/>
                </a:lnTo>
                <a:close/>
              </a:path>
            </a:pathLst>
          </a:custGeom>
          <a:blipFill>
            <a:blip r:embed="rId2"/>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650795" y="576509"/>
            <a:ext cx="17017474" cy="9125088"/>
            <a:chOff x="0" y="0"/>
            <a:chExt cx="4481968" cy="2403315"/>
          </a:xfrm>
        </p:grpSpPr>
        <p:sp>
          <p:nvSpPr>
            <p:cNvPr name="Freeform 3" id="3"/>
            <p:cNvSpPr/>
            <p:nvPr/>
          </p:nvSpPr>
          <p:spPr>
            <a:xfrm flipH="false" flipV="false" rot="0">
              <a:off x="0" y="0"/>
              <a:ext cx="4481968" cy="2403315"/>
            </a:xfrm>
            <a:custGeom>
              <a:avLst/>
              <a:gdLst/>
              <a:ahLst/>
              <a:cxnLst/>
              <a:rect r="r" b="b" t="t" l="l"/>
              <a:pathLst>
                <a:path h="2403315" w="4481968">
                  <a:moveTo>
                    <a:pt x="23202" y="0"/>
                  </a:moveTo>
                  <a:lnTo>
                    <a:pt x="4458766" y="0"/>
                  </a:lnTo>
                  <a:cubicBezTo>
                    <a:pt x="4471581" y="0"/>
                    <a:pt x="4481968" y="10388"/>
                    <a:pt x="4481968" y="23202"/>
                  </a:cubicBezTo>
                  <a:lnTo>
                    <a:pt x="4481968" y="2380113"/>
                  </a:lnTo>
                  <a:cubicBezTo>
                    <a:pt x="4481968" y="2392927"/>
                    <a:pt x="4471581" y="2403315"/>
                    <a:pt x="4458766" y="2403315"/>
                  </a:cubicBezTo>
                  <a:lnTo>
                    <a:pt x="23202" y="2403315"/>
                  </a:lnTo>
                  <a:cubicBezTo>
                    <a:pt x="10388" y="2403315"/>
                    <a:pt x="0" y="2392927"/>
                    <a:pt x="0" y="2380113"/>
                  </a:cubicBezTo>
                  <a:lnTo>
                    <a:pt x="0" y="23202"/>
                  </a:lnTo>
                  <a:cubicBezTo>
                    <a:pt x="0" y="10388"/>
                    <a:pt x="10388" y="0"/>
                    <a:pt x="23202" y="0"/>
                  </a:cubicBezTo>
                  <a:close/>
                </a:path>
              </a:pathLst>
            </a:custGeom>
            <a:solidFill>
              <a:srgbClr val="A8AFE4"/>
            </a:solidFill>
            <a:ln cap="rnd">
              <a:noFill/>
              <a:prstDash val="solid"/>
              <a:round/>
            </a:ln>
          </p:spPr>
        </p:sp>
        <p:sp>
          <p:nvSpPr>
            <p:cNvPr name="TextBox 4" id="4"/>
            <p:cNvSpPr txBox="true"/>
            <p:nvPr/>
          </p:nvSpPr>
          <p:spPr>
            <a:xfrm>
              <a:off x="0" y="-38100"/>
              <a:ext cx="4481968" cy="2441415"/>
            </a:xfrm>
            <a:prstGeom prst="rect">
              <a:avLst/>
            </a:prstGeom>
          </p:spPr>
          <p:txBody>
            <a:bodyPr anchor="ctr" rtlCol="false" tIns="50800" lIns="50800" bIns="50800" rIns="50800"/>
            <a:lstStyle/>
            <a:p>
              <a:pPr algn="l">
                <a:lnSpc>
                  <a:spcPts val="2706"/>
                </a:lnSpc>
              </a:pPr>
            </a:p>
          </p:txBody>
        </p:sp>
      </p:grpSp>
      <p:sp>
        <p:nvSpPr>
          <p:cNvPr name="TextBox 5" id="5"/>
          <p:cNvSpPr txBox="true"/>
          <p:nvPr/>
        </p:nvSpPr>
        <p:spPr>
          <a:xfrm rot="0">
            <a:off x="1028700" y="857250"/>
            <a:ext cx="12450301" cy="1566500"/>
          </a:xfrm>
          <a:prstGeom prst="rect">
            <a:avLst/>
          </a:prstGeom>
        </p:spPr>
        <p:txBody>
          <a:bodyPr anchor="t" rtlCol="false" tIns="0" lIns="0" bIns="0" rIns="0">
            <a:spAutoFit/>
          </a:bodyPr>
          <a:lstStyle/>
          <a:p>
            <a:pPr algn="ctr">
              <a:lnSpc>
                <a:spcPts val="12880"/>
              </a:lnSpc>
            </a:pPr>
            <a:r>
              <a:rPr lang="en-US" sz="9200" b="true">
                <a:solidFill>
                  <a:srgbClr val="000000"/>
                </a:solidFill>
                <a:latin typeface="Open Sans 1 Bold"/>
                <a:ea typeface="Open Sans 1 Bold"/>
                <a:cs typeface="Open Sans 1 Bold"/>
                <a:sym typeface="Open Sans 1 Bold"/>
              </a:rPr>
              <a:t>Game Design Feature</a:t>
            </a:r>
          </a:p>
        </p:txBody>
      </p:sp>
      <p:sp>
        <p:nvSpPr>
          <p:cNvPr name="TextBox 6" id="6"/>
          <p:cNvSpPr txBox="true"/>
          <p:nvPr/>
        </p:nvSpPr>
        <p:spPr>
          <a:xfrm rot="0">
            <a:off x="1028700" y="2328500"/>
            <a:ext cx="12450301" cy="887117"/>
          </a:xfrm>
          <a:prstGeom prst="rect">
            <a:avLst/>
          </a:prstGeom>
        </p:spPr>
        <p:txBody>
          <a:bodyPr anchor="t" rtlCol="false" tIns="0" lIns="0" bIns="0" rIns="0">
            <a:spAutoFit/>
          </a:bodyPr>
          <a:lstStyle/>
          <a:p>
            <a:pPr algn="l">
              <a:lnSpc>
                <a:spcPts val="7279"/>
              </a:lnSpc>
            </a:pPr>
            <a:r>
              <a:rPr lang="en-US" sz="5199" b="true">
                <a:solidFill>
                  <a:srgbClr val="000000"/>
                </a:solidFill>
                <a:latin typeface="Open Sans 1 Bold"/>
                <a:ea typeface="Open Sans 1 Bold"/>
                <a:cs typeface="Open Sans 1 Bold"/>
                <a:sym typeface="Open Sans 1 Bold"/>
              </a:rPr>
              <a:t>Enemy “grue agressive”</a:t>
            </a:r>
          </a:p>
        </p:txBody>
      </p:sp>
      <p:sp>
        <p:nvSpPr>
          <p:cNvPr name="TextBox 7" id="7"/>
          <p:cNvSpPr txBox="true"/>
          <p:nvPr/>
        </p:nvSpPr>
        <p:spPr>
          <a:xfrm rot="0">
            <a:off x="1028700" y="4044292"/>
            <a:ext cx="12450301" cy="887117"/>
          </a:xfrm>
          <a:prstGeom prst="rect">
            <a:avLst/>
          </a:prstGeom>
        </p:spPr>
        <p:txBody>
          <a:bodyPr anchor="t" rtlCol="false" tIns="0" lIns="0" bIns="0" rIns="0">
            <a:spAutoFit/>
          </a:bodyPr>
          <a:lstStyle/>
          <a:p>
            <a:pPr algn="l">
              <a:lnSpc>
                <a:spcPts val="7279"/>
              </a:lnSpc>
            </a:pPr>
            <a:r>
              <a:rPr lang="en-US" sz="5199" b="true">
                <a:solidFill>
                  <a:srgbClr val="000000"/>
                </a:solidFill>
                <a:latin typeface="Open Sans 1 Bold"/>
                <a:ea typeface="Open Sans 1 Bold"/>
                <a:cs typeface="Open Sans 1 Bold"/>
                <a:sym typeface="Open Sans 1 Bold"/>
              </a:rPr>
              <a:t>Détection</a:t>
            </a:r>
          </a:p>
        </p:txBody>
      </p:sp>
      <p:sp>
        <p:nvSpPr>
          <p:cNvPr name="TextBox 8" id="8"/>
          <p:cNvSpPr txBox="true"/>
          <p:nvPr/>
        </p:nvSpPr>
        <p:spPr>
          <a:xfrm rot="0">
            <a:off x="1028700" y="7078668"/>
            <a:ext cx="12450301" cy="887117"/>
          </a:xfrm>
          <a:prstGeom prst="rect">
            <a:avLst/>
          </a:prstGeom>
        </p:spPr>
        <p:txBody>
          <a:bodyPr anchor="t" rtlCol="false" tIns="0" lIns="0" bIns="0" rIns="0">
            <a:spAutoFit/>
          </a:bodyPr>
          <a:lstStyle/>
          <a:p>
            <a:pPr algn="l">
              <a:lnSpc>
                <a:spcPts val="7279"/>
              </a:lnSpc>
            </a:pPr>
            <a:r>
              <a:rPr lang="en-US" sz="5199" b="true">
                <a:solidFill>
                  <a:srgbClr val="000000"/>
                </a:solidFill>
                <a:latin typeface="Open Sans 1 Bold"/>
                <a:ea typeface="Open Sans 1 Bold"/>
                <a:cs typeface="Open Sans 1 Bold"/>
                <a:sym typeface="Open Sans 1 Bold"/>
              </a:rPr>
              <a:t>Attaque</a:t>
            </a:r>
          </a:p>
        </p:txBody>
      </p:sp>
      <p:sp>
        <p:nvSpPr>
          <p:cNvPr name="TextBox 9" id="9"/>
          <p:cNvSpPr txBox="true"/>
          <p:nvPr/>
        </p:nvSpPr>
        <p:spPr>
          <a:xfrm rot="0">
            <a:off x="1028700" y="5126744"/>
            <a:ext cx="16230600" cy="1780474"/>
          </a:xfrm>
          <a:prstGeom prst="rect">
            <a:avLst/>
          </a:prstGeom>
        </p:spPr>
        <p:txBody>
          <a:bodyPr anchor="t" rtlCol="false" tIns="0" lIns="0" bIns="0" rIns="0">
            <a:spAutoFit/>
          </a:bodyPr>
          <a:lstStyle/>
          <a:p>
            <a:pPr algn="just">
              <a:lnSpc>
                <a:spcPts val="4759"/>
              </a:lnSpc>
            </a:pPr>
            <a:r>
              <a:rPr lang="en-US" sz="3399">
                <a:solidFill>
                  <a:srgbClr val="000000"/>
                </a:solidFill>
                <a:latin typeface="Open Sans 1"/>
                <a:ea typeface="Open Sans 1"/>
                <a:cs typeface="Open Sans 1"/>
                <a:sym typeface="Open Sans 1"/>
              </a:rPr>
              <a:t>La grue agressive a une portée de détection visuel mais n’entendent pas le joueur.</a:t>
            </a:r>
          </a:p>
          <a:p>
            <a:pPr algn="just">
              <a:lnSpc>
                <a:spcPts val="4759"/>
              </a:lnSpc>
            </a:pPr>
            <a:r>
              <a:rPr lang="en-US" sz="3399">
                <a:solidFill>
                  <a:srgbClr val="000000"/>
                </a:solidFill>
                <a:latin typeface="Open Sans 1"/>
                <a:ea typeface="Open Sans 1"/>
                <a:cs typeface="Open Sans 1"/>
                <a:sym typeface="Open Sans 1"/>
              </a:rPr>
              <a:t>Il se mettront en état d’attaque lors d’un contact visuel.</a:t>
            </a:r>
          </a:p>
        </p:txBody>
      </p:sp>
      <p:sp>
        <p:nvSpPr>
          <p:cNvPr name="TextBox 10" id="10"/>
          <p:cNvSpPr txBox="true"/>
          <p:nvPr/>
        </p:nvSpPr>
        <p:spPr>
          <a:xfrm rot="0">
            <a:off x="1028700" y="8165810"/>
            <a:ext cx="16230600" cy="580368"/>
          </a:xfrm>
          <a:prstGeom prst="rect">
            <a:avLst/>
          </a:prstGeom>
        </p:spPr>
        <p:txBody>
          <a:bodyPr anchor="t" rtlCol="false" tIns="0" lIns="0" bIns="0" rIns="0">
            <a:spAutoFit/>
          </a:bodyPr>
          <a:lstStyle/>
          <a:p>
            <a:pPr algn="just">
              <a:lnSpc>
                <a:spcPts val="4759"/>
              </a:lnSpc>
            </a:pPr>
            <a:r>
              <a:rPr lang="en-US" sz="3399">
                <a:solidFill>
                  <a:srgbClr val="000000"/>
                </a:solidFill>
                <a:latin typeface="Open Sans 1"/>
                <a:ea typeface="Open Sans 1"/>
                <a:cs typeface="Open Sans 1"/>
                <a:sym typeface="Open Sans 1"/>
              </a:rPr>
              <a:t>Tombe rapidement sur le player, “fond” sur le player pour le pousser.</a:t>
            </a:r>
          </a:p>
        </p:txBody>
      </p:sp>
      <p:sp>
        <p:nvSpPr>
          <p:cNvPr name="TextBox 11" id="11"/>
          <p:cNvSpPr txBox="true"/>
          <p:nvPr/>
        </p:nvSpPr>
        <p:spPr>
          <a:xfrm rot="0">
            <a:off x="11158443" y="3139417"/>
            <a:ext cx="5508735" cy="752454"/>
          </a:xfrm>
          <a:prstGeom prst="rect">
            <a:avLst/>
          </a:prstGeom>
        </p:spPr>
        <p:txBody>
          <a:bodyPr anchor="t" rtlCol="false" tIns="0" lIns="0" bIns="0" rIns="0">
            <a:spAutoFit/>
          </a:bodyPr>
          <a:lstStyle/>
          <a:p>
            <a:pPr algn="ctr" marL="0" indent="0" lvl="0">
              <a:lnSpc>
                <a:spcPts val="6299"/>
              </a:lnSpc>
              <a:spcBef>
                <a:spcPct val="0"/>
              </a:spcBef>
            </a:pPr>
            <a:r>
              <a:rPr lang="en-US" sz="4499">
                <a:solidFill>
                  <a:srgbClr val="000000"/>
                </a:solidFill>
                <a:latin typeface="Open Sans 1"/>
                <a:ea typeface="Open Sans 1"/>
                <a:cs typeface="Open Sans 1"/>
                <a:sym typeface="Open Sans 1"/>
              </a:rPr>
              <a:t>Idée supplémentaire</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082616" y="4274525"/>
            <a:ext cx="12122768" cy="1566500"/>
          </a:xfrm>
          <a:prstGeom prst="rect">
            <a:avLst/>
          </a:prstGeom>
        </p:spPr>
        <p:txBody>
          <a:bodyPr anchor="t" rtlCol="false" tIns="0" lIns="0" bIns="0" rIns="0">
            <a:spAutoFit/>
          </a:bodyPr>
          <a:lstStyle/>
          <a:p>
            <a:pPr algn="ctr">
              <a:lnSpc>
                <a:spcPts val="12880"/>
              </a:lnSpc>
            </a:pPr>
            <a:r>
              <a:rPr lang="en-US" sz="9200" b="true">
                <a:solidFill>
                  <a:srgbClr val="000000"/>
                </a:solidFill>
                <a:latin typeface="Open Sans 1 Bold"/>
                <a:ea typeface="Open Sans 1 Bold"/>
                <a:cs typeface="Open Sans 1 Bold"/>
                <a:sym typeface="Open Sans 1 Bold"/>
              </a:rPr>
              <a:t>Lev</a:t>
            </a:r>
            <a:r>
              <a:rPr lang="en-US" b="true" sz="9200">
                <a:solidFill>
                  <a:srgbClr val="000000"/>
                </a:solidFill>
                <a:latin typeface="Open Sans 1 Bold"/>
                <a:ea typeface="Open Sans 1 Bold"/>
                <a:cs typeface="Open Sans 1 Bold"/>
                <a:sym typeface="Open Sans 1 Bold"/>
              </a:rPr>
              <a:t>el Design Feature</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57250"/>
            <a:ext cx="12122768" cy="1566500"/>
          </a:xfrm>
          <a:prstGeom prst="rect">
            <a:avLst/>
          </a:prstGeom>
        </p:spPr>
        <p:txBody>
          <a:bodyPr anchor="t" rtlCol="false" tIns="0" lIns="0" bIns="0" rIns="0">
            <a:spAutoFit/>
          </a:bodyPr>
          <a:lstStyle/>
          <a:p>
            <a:pPr algn="ctr">
              <a:lnSpc>
                <a:spcPts val="12880"/>
              </a:lnSpc>
            </a:pPr>
            <a:r>
              <a:rPr lang="en-US" sz="9200" b="true">
                <a:solidFill>
                  <a:srgbClr val="000000"/>
                </a:solidFill>
                <a:latin typeface="Open Sans 1 Bold"/>
                <a:ea typeface="Open Sans 1 Bold"/>
                <a:cs typeface="Open Sans 1 Bold"/>
                <a:sym typeface="Open Sans 1 Bold"/>
              </a:rPr>
              <a:t>Level Design Feature</a:t>
            </a:r>
          </a:p>
        </p:txBody>
      </p:sp>
      <p:sp>
        <p:nvSpPr>
          <p:cNvPr name="TextBox 3" id="3"/>
          <p:cNvSpPr txBox="true"/>
          <p:nvPr/>
        </p:nvSpPr>
        <p:spPr>
          <a:xfrm rot="0">
            <a:off x="1028700" y="2328500"/>
            <a:ext cx="12122768" cy="887117"/>
          </a:xfrm>
          <a:prstGeom prst="rect">
            <a:avLst/>
          </a:prstGeom>
        </p:spPr>
        <p:txBody>
          <a:bodyPr anchor="t" rtlCol="false" tIns="0" lIns="0" bIns="0" rIns="0">
            <a:spAutoFit/>
          </a:bodyPr>
          <a:lstStyle/>
          <a:p>
            <a:pPr algn="l">
              <a:lnSpc>
                <a:spcPts val="7279"/>
              </a:lnSpc>
            </a:pPr>
            <a:r>
              <a:rPr lang="en-US" sz="5199" b="true">
                <a:solidFill>
                  <a:srgbClr val="000000"/>
                </a:solidFill>
                <a:latin typeface="Open Sans 1 Bold"/>
                <a:ea typeface="Open Sans 1 Bold"/>
                <a:cs typeface="Open Sans 1 Bold"/>
                <a:sym typeface="Open Sans 1 Bold"/>
              </a:rPr>
              <a:t>Gameplay</a:t>
            </a:r>
          </a:p>
        </p:txBody>
      </p:sp>
      <p:grpSp>
        <p:nvGrpSpPr>
          <p:cNvPr name="Group 4" id="4"/>
          <p:cNvGrpSpPr/>
          <p:nvPr/>
        </p:nvGrpSpPr>
        <p:grpSpPr>
          <a:xfrm rot="0">
            <a:off x="1770712" y="4196809"/>
            <a:ext cx="6775486" cy="4193153"/>
            <a:chOff x="0" y="0"/>
            <a:chExt cx="1784490" cy="1104370"/>
          </a:xfrm>
        </p:grpSpPr>
        <p:sp>
          <p:nvSpPr>
            <p:cNvPr name="Freeform 5" id="5"/>
            <p:cNvSpPr/>
            <p:nvPr/>
          </p:nvSpPr>
          <p:spPr>
            <a:xfrm flipH="false" flipV="false" rot="0">
              <a:off x="0" y="0"/>
              <a:ext cx="1784490" cy="1104370"/>
            </a:xfrm>
            <a:custGeom>
              <a:avLst/>
              <a:gdLst/>
              <a:ahLst/>
              <a:cxnLst/>
              <a:rect r="r" b="b" t="t" l="l"/>
              <a:pathLst>
                <a:path h="1104370" w="1784490">
                  <a:moveTo>
                    <a:pt x="0" y="0"/>
                  </a:moveTo>
                  <a:lnTo>
                    <a:pt x="1784490" y="0"/>
                  </a:lnTo>
                  <a:lnTo>
                    <a:pt x="1784490" y="1104370"/>
                  </a:lnTo>
                  <a:lnTo>
                    <a:pt x="0" y="1104370"/>
                  </a:lnTo>
                  <a:close/>
                </a:path>
              </a:pathLst>
            </a:custGeom>
            <a:solidFill>
              <a:srgbClr val="000000">
                <a:alpha val="0"/>
              </a:srgbClr>
            </a:solidFill>
            <a:ln w="19050" cap="sq">
              <a:solidFill>
                <a:srgbClr val="000000"/>
              </a:solidFill>
              <a:prstDash val="solid"/>
              <a:miter/>
            </a:ln>
          </p:spPr>
        </p:sp>
        <p:sp>
          <p:nvSpPr>
            <p:cNvPr name="TextBox 6" id="6"/>
            <p:cNvSpPr txBox="true"/>
            <p:nvPr/>
          </p:nvSpPr>
          <p:spPr>
            <a:xfrm>
              <a:off x="0" y="-47625"/>
              <a:ext cx="1784490" cy="1151995"/>
            </a:xfrm>
            <a:prstGeom prst="rect">
              <a:avLst/>
            </a:prstGeom>
          </p:spPr>
          <p:txBody>
            <a:bodyPr anchor="ctr" rtlCol="false" tIns="50800" lIns="50800" bIns="50800" rIns="50800"/>
            <a:lstStyle/>
            <a:p>
              <a:pPr algn="ctr">
                <a:lnSpc>
                  <a:spcPts val="3360"/>
                </a:lnSpc>
              </a:pPr>
            </a:p>
          </p:txBody>
        </p:sp>
      </p:grpSp>
      <p:sp>
        <p:nvSpPr>
          <p:cNvPr name="TextBox 7" id="7"/>
          <p:cNvSpPr txBox="true"/>
          <p:nvPr/>
        </p:nvSpPr>
        <p:spPr>
          <a:xfrm rot="0">
            <a:off x="2138465" y="4592604"/>
            <a:ext cx="4039439" cy="1054166"/>
          </a:xfrm>
          <a:prstGeom prst="rect">
            <a:avLst/>
          </a:prstGeom>
        </p:spPr>
        <p:txBody>
          <a:bodyPr anchor="t" rtlCol="false" tIns="0" lIns="0" bIns="0" rIns="0">
            <a:spAutoFit/>
          </a:bodyPr>
          <a:lstStyle/>
          <a:p>
            <a:pPr algn="l">
              <a:lnSpc>
                <a:spcPts val="2800"/>
              </a:lnSpc>
            </a:pPr>
            <a:r>
              <a:rPr lang="en-US" sz="2000" b="true">
                <a:solidFill>
                  <a:srgbClr val="000000"/>
                </a:solidFill>
                <a:latin typeface="Open Sans 2 Bold"/>
                <a:ea typeface="Open Sans 2 Bold"/>
                <a:cs typeface="Open Sans 2 Bold"/>
                <a:sym typeface="Open Sans 2 Bold"/>
              </a:rPr>
              <a:t>Structure:</a:t>
            </a:r>
          </a:p>
          <a:p>
            <a:pPr algn="l" marL="431801" indent="-215900" lvl="1">
              <a:lnSpc>
                <a:spcPts val="2800"/>
              </a:lnSpc>
              <a:buFont typeface="Arial"/>
              <a:buChar char="•"/>
            </a:pPr>
            <a:r>
              <a:rPr lang="en-US" sz="2000">
                <a:solidFill>
                  <a:srgbClr val="000000"/>
                </a:solidFill>
                <a:latin typeface="Open Sans 2"/>
                <a:ea typeface="Open Sans 2"/>
                <a:cs typeface="Open Sans 2"/>
                <a:sym typeface="Open Sans 2"/>
              </a:rPr>
              <a:t>Destructible</a:t>
            </a:r>
          </a:p>
          <a:p>
            <a:pPr algn="l">
              <a:lnSpc>
                <a:spcPts val="2800"/>
              </a:lnSpc>
            </a:pPr>
          </a:p>
        </p:txBody>
      </p:sp>
      <p:sp>
        <p:nvSpPr>
          <p:cNvPr name="TextBox 8" id="8"/>
          <p:cNvSpPr txBox="true"/>
          <p:nvPr/>
        </p:nvSpPr>
        <p:spPr>
          <a:xfrm rot="0">
            <a:off x="2138465" y="5970621"/>
            <a:ext cx="4039439" cy="1759060"/>
          </a:xfrm>
          <a:prstGeom prst="rect">
            <a:avLst/>
          </a:prstGeom>
        </p:spPr>
        <p:txBody>
          <a:bodyPr anchor="t" rtlCol="false" tIns="0" lIns="0" bIns="0" rIns="0">
            <a:spAutoFit/>
          </a:bodyPr>
          <a:lstStyle/>
          <a:p>
            <a:pPr algn="l">
              <a:lnSpc>
                <a:spcPts val="2800"/>
              </a:lnSpc>
            </a:pPr>
            <a:r>
              <a:rPr lang="en-US" sz="2000" b="true">
                <a:solidFill>
                  <a:srgbClr val="000000"/>
                </a:solidFill>
                <a:latin typeface="Open Sans 2 Bold"/>
                <a:ea typeface="Open Sans 2 Bold"/>
                <a:cs typeface="Open Sans 2 Bold"/>
                <a:sym typeface="Open Sans 2 Bold"/>
              </a:rPr>
              <a:t>Interaction:</a:t>
            </a:r>
          </a:p>
          <a:p>
            <a:pPr algn="l" marL="431801" indent="-215900" lvl="1">
              <a:lnSpc>
                <a:spcPts val="2800"/>
              </a:lnSpc>
              <a:buFont typeface="Arial"/>
              <a:buChar char="•"/>
            </a:pPr>
            <a:r>
              <a:rPr lang="en-US" sz="2000">
                <a:solidFill>
                  <a:srgbClr val="000000"/>
                </a:solidFill>
                <a:latin typeface="Open Sans 2"/>
                <a:ea typeface="Open Sans 2"/>
                <a:cs typeface="Open Sans 2"/>
                <a:sym typeface="Open Sans 2"/>
              </a:rPr>
              <a:t>Joueur frappe la boîte</a:t>
            </a:r>
          </a:p>
          <a:p>
            <a:pPr algn="l" marL="431801" indent="-215900" lvl="1">
              <a:lnSpc>
                <a:spcPts val="2800"/>
              </a:lnSpc>
              <a:buFont typeface="Arial"/>
              <a:buChar char="•"/>
            </a:pPr>
            <a:r>
              <a:rPr lang="en-US" sz="2000">
                <a:solidFill>
                  <a:srgbClr val="000000"/>
                </a:solidFill>
                <a:latin typeface="Open Sans 2"/>
                <a:ea typeface="Open Sans 2"/>
                <a:cs typeface="Open Sans 2"/>
                <a:sym typeface="Open Sans 2"/>
              </a:rPr>
              <a:t>Joueur pousse ou tire la boîte</a:t>
            </a:r>
          </a:p>
          <a:p>
            <a:pPr algn="l" marL="431801" indent="-215900" lvl="1">
              <a:lnSpc>
                <a:spcPts val="2800"/>
              </a:lnSpc>
              <a:buFont typeface="Arial"/>
              <a:buChar char="•"/>
            </a:pPr>
            <a:r>
              <a:rPr lang="en-US" sz="2000">
                <a:solidFill>
                  <a:srgbClr val="000000"/>
                </a:solidFill>
                <a:latin typeface="Open Sans 2"/>
                <a:ea typeface="Open Sans 2"/>
                <a:cs typeface="Open Sans 2"/>
                <a:sym typeface="Open Sans 2"/>
              </a:rPr>
              <a:t>Peut permettre d’atteindre des passages en hauteur</a:t>
            </a:r>
          </a:p>
        </p:txBody>
      </p:sp>
      <p:sp>
        <p:nvSpPr>
          <p:cNvPr name="TextBox 9" id="9"/>
          <p:cNvSpPr txBox="true"/>
          <p:nvPr/>
        </p:nvSpPr>
        <p:spPr>
          <a:xfrm rot="0">
            <a:off x="1471044" y="3637444"/>
            <a:ext cx="7374823" cy="409605"/>
          </a:xfrm>
          <a:prstGeom prst="rect">
            <a:avLst/>
          </a:prstGeom>
        </p:spPr>
        <p:txBody>
          <a:bodyPr anchor="t" rtlCol="false" tIns="0" lIns="0" bIns="0" rIns="0">
            <a:spAutoFit/>
          </a:bodyPr>
          <a:lstStyle/>
          <a:p>
            <a:pPr algn="ctr">
              <a:lnSpc>
                <a:spcPts val="3150"/>
              </a:lnSpc>
            </a:pPr>
            <a:r>
              <a:rPr lang="en-US" b="true" sz="3000">
                <a:solidFill>
                  <a:srgbClr val="000000"/>
                </a:solidFill>
                <a:latin typeface="Open Sans 2 Bold"/>
                <a:ea typeface="Open Sans 2 Bold"/>
                <a:cs typeface="Open Sans 2 Bold"/>
                <a:sym typeface="Open Sans 2 Bold"/>
              </a:rPr>
              <a:t>Caisse fragile</a:t>
            </a:r>
          </a:p>
        </p:txBody>
      </p:sp>
      <p:grpSp>
        <p:nvGrpSpPr>
          <p:cNvPr name="Group 10" id="10"/>
          <p:cNvGrpSpPr/>
          <p:nvPr/>
        </p:nvGrpSpPr>
        <p:grpSpPr>
          <a:xfrm rot="0">
            <a:off x="13589239" y="1201514"/>
            <a:ext cx="4457853" cy="2014103"/>
            <a:chOff x="0" y="0"/>
            <a:chExt cx="1174085" cy="530463"/>
          </a:xfrm>
        </p:grpSpPr>
        <p:sp>
          <p:nvSpPr>
            <p:cNvPr name="Freeform 11" id="11"/>
            <p:cNvSpPr/>
            <p:nvPr/>
          </p:nvSpPr>
          <p:spPr>
            <a:xfrm flipH="false" flipV="false" rot="0">
              <a:off x="0" y="0"/>
              <a:ext cx="1174085" cy="530463"/>
            </a:xfrm>
            <a:custGeom>
              <a:avLst/>
              <a:gdLst/>
              <a:ahLst/>
              <a:cxnLst/>
              <a:rect r="r" b="b" t="t" l="l"/>
              <a:pathLst>
                <a:path h="530463" w="1174085">
                  <a:moveTo>
                    <a:pt x="88571" y="0"/>
                  </a:moveTo>
                  <a:lnTo>
                    <a:pt x="1085513" y="0"/>
                  </a:lnTo>
                  <a:cubicBezTo>
                    <a:pt x="1109004" y="0"/>
                    <a:pt x="1131532" y="9332"/>
                    <a:pt x="1148143" y="25942"/>
                  </a:cubicBezTo>
                  <a:cubicBezTo>
                    <a:pt x="1164753" y="42552"/>
                    <a:pt x="1174085" y="65081"/>
                    <a:pt x="1174085" y="88571"/>
                  </a:cubicBezTo>
                  <a:lnTo>
                    <a:pt x="1174085" y="441892"/>
                  </a:lnTo>
                  <a:cubicBezTo>
                    <a:pt x="1174085" y="465383"/>
                    <a:pt x="1164753" y="487911"/>
                    <a:pt x="1148143" y="504521"/>
                  </a:cubicBezTo>
                  <a:cubicBezTo>
                    <a:pt x="1131532" y="521132"/>
                    <a:pt x="1109004" y="530463"/>
                    <a:pt x="1085513" y="530463"/>
                  </a:cubicBezTo>
                  <a:lnTo>
                    <a:pt x="88571" y="530463"/>
                  </a:lnTo>
                  <a:cubicBezTo>
                    <a:pt x="65081" y="530463"/>
                    <a:pt x="42552" y="521132"/>
                    <a:pt x="25942" y="504521"/>
                  </a:cubicBezTo>
                  <a:cubicBezTo>
                    <a:pt x="9332" y="487911"/>
                    <a:pt x="0" y="465383"/>
                    <a:pt x="0" y="441892"/>
                  </a:cubicBezTo>
                  <a:lnTo>
                    <a:pt x="0" y="88571"/>
                  </a:lnTo>
                  <a:cubicBezTo>
                    <a:pt x="0" y="65081"/>
                    <a:pt x="9332" y="42552"/>
                    <a:pt x="25942" y="25942"/>
                  </a:cubicBezTo>
                  <a:cubicBezTo>
                    <a:pt x="42552" y="9332"/>
                    <a:pt x="65081" y="0"/>
                    <a:pt x="88571" y="0"/>
                  </a:cubicBezTo>
                  <a:close/>
                </a:path>
              </a:pathLst>
            </a:custGeom>
            <a:solidFill>
              <a:srgbClr val="A8AFE4"/>
            </a:solidFill>
            <a:ln cap="rnd">
              <a:noFill/>
              <a:prstDash val="solid"/>
              <a:round/>
            </a:ln>
          </p:spPr>
        </p:sp>
        <p:sp>
          <p:nvSpPr>
            <p:cNvPr name="TextBox 12" id="12"/>
            <p:cNvSpPr txBox="true"/>
            <p:nvPr/>
          </p:nvSpPr>
          <p:spPr>
            <a:xfrm>
              <a:off x="0" y="-38100"/>
              <a:ext cx="1174085" cy="568563"/>
            </a:xfrm>
            <a:prstGeom prst="rect">
              <a:avLst/>
            </a:prstGeom>
          </p:spPr>
          <p:txBody>
            <a:bodyPr anchor="ctr" rtlCol="false" tIns="50800" lIns="50800" bIns="50800" rIns="50800"/>
            <a:lstStyle/>
            <a:p>
              <a:pPr algn="l">
                <a:lnSpc>
                  <a:spcPts val="2706"/>
                </a:lnSpc>
              </a:pPr>
            </a:p>
          </p:txBody>
        </p:sp>
      </p:grpSp>
      <p:grpSp>
        <p:nvGrpSpPr>
          <p:cNvPr name="Group 13" id="13"/>
          <p:cNvGrpSpPr/>
          <p:nvPr/>
        </p:nvGrpSpPr>
        <p:grpSpPr>
          <a:xfrm rot="0">
            <a:off x="9763725" y="4196809"/>
            <a:ext cx="6775486" cy="4193153"/>
            <a:chOff x="0" y="0"/>
            <a:chExt cx="1784490" cy="1104370"/>
          </a:xfrm>
        </p:grpSpPr>
        <p:sp>
          <p:nvSpPr>
            <p:cNvPr name="Freeform 14" id="14"/>
            <p:cNvSpPr/>
            <p:nvPr/>
          </p:nvSpPr>
          <p:spPr>
            <a:xfrm flipH="false" flipV="false" rot="0">
              <a:off x="0" y="0"/>
              <a:ext cx="1784490" cy="1104370"/>
            </a:xfrm>
            <a:custGeom>
              <a:avLst/>
              <a:gdLst/>
              <a:ahLst/>
              <a:cxnLst/>
              <a:rect r="r" b="b" t="t" l="l"/>
              <a:pathLst>
                <a:path h="1104370" w="1784490">
                  <a:moveTo>
                    <a:pt x="0" y="0"/>
                  </a:moveTo>
                  <a:lnTo>
                    <a:pt x="1784490" y="0"/>
                  </a:lnTo>
                  <a:lnTo>
                    <a:pt x="1784490" y="1104370"/>
                  </a:lnTo>
                  <a:lnTo>
                    <a:pt x="0" y="1104370"/>
                  </a:lnTo>
                  <a:close/>
                </a:path>
              </a:pathLst>
            </a:custGeom>
            <a:solidFill>
              <a:srgbClr val="000000">
                <a:alpha val="0"/>
              </a:srgbClr>
            </a:solidFill>
            <a:ln w="19050" cap="sq">
              <a:solidFill>
                <a:srgbClr val="000000"/>
              </a:solidFill>
              <a:prstDash val="solid"/>
              <a:miter/>
            </a:ln>
          </p:spPr>
        </p:sp>
        <p:sp>
          <p:nvSpPr>
            <p:cNvPr name="TextBox 15" id="15"/>
            <p:cNvSpPr txBox="true"/>
            <p:nvPr/>
          </p:nvSpPr>
          <p:spPr>
            <a:xfrm>
              <a:off x="0" y="-47625"/>
              <a:ext cx="1784490" cy="1151995"/>
            </a:xfrm>
            <a:prstGeom prst="rect">
              <a:avLst/>
            </a:prstGeom>
          </p:spPr>
          <p:txBody>
            <a:bodyPr anchor="ctr" rtlCol="false" tIns="50800" lIns="50800" bIns="50800" rIns="50800"/>
            <a:lstStyle/>
            <a:p>
              <a:pPr algn="ctr">
                <a:lnSpc>
                  <a:spcPts val="3360"/>
                </a:lnSpc>
              </a:pPr>
            </a:p>
          </p:txBody>
        </p:sp>
      </p:grpSp>
      <p:sp>
        <p:nvSpPr>
          <p:cNvPr name="TextBox 16" id="16"/>
          <p:cNvSpPr txBox="true"/>
          <p:nvPr/>
        </p:nvSpPr>
        <p:spPr>
          <a:xfrm rot="0">
            <a:off x="10131477" y="4592604"/>
            <a:ext cx="4039439" cy="701719"/>
          </a:xfrm>
          <a:prstGeom prst="rect">
            <a:avLst/>
          </a:prstGeom>
        </p:spPr>
        <p:txBody>
          <a:bodyPr anchor="t" rtlCol="false" tIns="0" lIns="0" bIns="0" rIns="0">
            <a:spAutoFit/>
          </a:bodyPr>
          <a:lstStyle/>
          <a:p>
            <a:pPr algn="l">
              <a:lnSpc>
                <a:spcPts val="2800"/>
              </a:lnSpc>
            </a:pPr>
            <a:r>
              <a:rPr lang="en-US" sz="2000" b="true">
                <a:solidFill>
                  <a:srgbClr val="000000"/>
                </a:solidFill>
                <a:latin typeface="Open Sans 2 Bold"/>
                <a:ea typeface="Open Sans 2 Bold"/>
                <a:cs typeface="Open Sans 2 Bold"/>
                <a:sym typeface="Open Sans 2 Bold"/>
              </a:rPr>
              <a:t>Structure:</a:t>
            </a:r>
          </a:p>
          <a:p>
            <a:pPr algn="l" marL="431801" indent="-215900" lvl="1">
              <a:lnSpc>
                <a:spcPts val="2800"/>
              </a:lnSpc>
              <a:buFont typeface="Arial"/>
              <a:buChar char="•"/>
            </a:pPr>
            <a:r>
              <a:rPr lang="en-US" sz="2000">
                <a:solidFill>
                  <a:srgbClr val="000000"/>
                </a:solidFill>
                <a:latin typeface="Open Sans 2"/>
                <a:ea typeface="Open Sans 2"/>
                <a:cs typeface="Open Sans 2"/>
                <a:sym typeface="Open Sans 2"/>
              </a:rPr>
              <a:t>Undestructible</a:t>
            </a:r>
          </a:p>
        </p:txBody>
      </p:sp>
      <p:sp>
        <p:nvSpPr>
          <p:cNvPr name="TextBox 17" id="17"/>
          <p:cNvSpPr txBox="true"/>
          <p:nvPr/>
        </p:nvSpPr>
        <p:spPr>
          <a:xfrm rot="0">
            <a:off x="10131477" y="5970621"/>
            <a:ext cx="4039439" cy="1406613"/>
          </a:xfrm>
          <a:prstGeom prst="rect">
            <a:avLst/>
          </a:prstGeom>
        </p:spPr>
        <p:txBody>
          <a:bodyPr anchor="t" rtlCol="false" tIns="0" lIns="0" bIns="0" rIns="0">
            <a:spAutoFit/>
          </a:bodyPr>
          <a:lstStyle/>
          <a:p>
            <a:pPr algn="l">
              <a:lnSpc>
                <a:spcPts val="2800"/>
              </a:lnSpc>
            </a:pPr>
            <a:r>
              <a:rPr lang="en-US" sz="2000" b="true">
                <a:solidFill>
                  <a:srgbClr val="000000"/>
                </a:solidFill>
                <a:latin typeface="Open Sans 2 Bold"/>
                <a:ea typeface="Open Sans 2 Bold"/>
                <a:cs typeface="Open Sans 2 Bold"/>
                <a:sym typeface="Open Sans 2 Bold"/>
              </a:rPr>
              <a:t>Interaction:</a:t>
            </a:r>
          </a:p>
          <a:p>
            <a:pPr algn="l" marL="431801" indent="-215900" lvl="1">
              <a:lnSpc>
                <a:spcPts val="2800"/>
              </a:lnSpc>
              <a:buFont typeface="Arial"/>
              <a:buChar char="•"/>
            </a:pPr>
            <a:r>
              <a:rPr lang="en-US" sz="2000">
                <a:solidFill>
                  <a:srgbClr val="000000"/>
                </a:solidFill>
                <a:latin typeface="Open Sans 2"/>
                <a:ea typeface="Open Sans 2"/>
                <a:cs typeface="Open Sans 2"/>
                <a:sym typeface="Open Sans 2"/>
              </a:rPr>
              <a:t>Jou</a:t>
            </a:r>
            <a:r>
              <a:rPr lang="en-US" sz="2000">
                <a:solidFill>
                  <a:srgbClr val="000000"/>
                </a:solidFill>
                <a:latin typeface="Open Sans 2"/>
                <a:ea typeface="Open Sans 2"/>
                <a:cs typeface="Open Sans 2"/>
                <a:sym typeface="Open Sans 2"/>
              </a:rPr>
              <a:t>eur pousse ou tire la boîte</a:t>
            </a:r>
          </a:p>
          <a:p>
            <a:pPr algn="l" marL="431801" indent="-215900" lvl="1">
              <a:lnSpc>
                <a:spcPts val="2800"/>
              </a:lnSpc>
              <a:buFont typeface="Arial"/>
              <a:buChar char="•"/>
            </a:pPr>
            <a:r>
              <a:rPr lang="en-US" sz="2000">
                <a:solidFill>
                  <a:srgbClr val="000000"/>
                </a:solidFill>
                <a:latin typeface="Open Sans 2"/>
                <a:ea typeface="Open Sans 2"/>
                <a:cs typeface="Open Sans 2"/>
                <a:sym typeface="Open Sans 2"/>
              </a:rPr>
              <a:t>Peut permettre d’atteindre des passages en hauteur</a:t>
            </a:r>
          </a:p>
        </p:txBody>
      </p:sp>
      <p:sp>
        <p:nvSpPr>
          <p:cNvPr name="TextBox 18" id="18"/>
          <p:cNvSpPr txBox="true"/>
          <p:nvPr/>
        </p:nvSpPr>
        <p:spPr>
          <a:xfrm rot="0">
            <a:off x="9464057" y="3637444"/>
            <a:ext cx="7374823" cy="409605"/>
          </a:xfrm>
          <a:prstGeom prst="rect">
            <a:avLst/>
          </a:prstGeom>
        </p:spPr>
        <p:txBody>
          <a:bodyPr anchor="t" rtlCol="false" tIns="0" lIns="0" bIns="0" rIns="0">
            <a:spAutoFit/>
          </a:bodyPr>
          <a:lstStyle/>
          <a:p>
            <a:pPr algn="ctr">
              <a:lnSpc>
                <a:spcPts val="3150"/>
              </a:lnSpc>
            </a:pPr>
            <a:r>
              <a:rPr lang="en-US" b="true" sz="3000">
                <a:solidFill>
                  <a:srgbClr val="000000"/>
                </a:solidFill>
                <a:latin typeface="Open Sans 2 Bold"/>
                <a:ea typeface="Open Sans 2 Bold"/>
                <a:cs typeface="Open Sans 2 Bold"/>
                <a:sym typeface="Open Sans 2 Bold"/>
              </a:rPr>
              <a:t>Caisse lourde</a:t>
            </a:r>
          </a:p>
        </p:txBody>
      </p:sp>
      <p:sp>
        <p:nvSpPr>
          <p:cNvPr name="TextBox 19" id="19"/>
          <p:cNvSpPr txBox="true"/>
          <p:nvPr/>
        </p:nvSpPr>
        <p:spPr>
          <a:xfrm rot="0">
            <a:off x="13771465" y="1562594"/>
            <a:ext cx="4093401" cy="1362644"/>
          </a:xfrm>
          <a:prstGeom prst="rect">
            <a:avLst/>
          </a:prstGeom>
        </p:spPr>
        <p:txBody>
          <a:bodyPr anchor="t" rtlCol="false" tIns="0" lIns="0" bIns="0" rIns="0">
            <a:spAutoFit/>
          </a:bodyPr>
          <a:lstStyle/>
          <a:p>
            <a:pPr algn="ctr">
              <a:lnSpc>
                <a:spcPts val="3640"/>
              </a:lnSpc>
            </a:pPr>
            <a:r>
              <a:rPr lang="en-US" sz="2600">
                <a:solidFill>
                  <a:srgbClr val="000000"/>
                </a:solidFill>
                <a:latin typeface="Open Sans 1"/>
                <a:ea typeface="Open Sans 1"/>
                <a:cs typeface="Open Sans 1"/>
                <a:sym typeface="Open Sans 1"/>
              </a:rPr>
              <a:t>Un mix des deux à été fait:</a:t>
            </a:r>
          </a:p>
          <a:p>
            <a:pPr algn="ctr" marL="561342" indent="-280671" lvl="1">
              <a:lnSpc>
                <a:spcPts val="3640"/>
              </a:lnSpc>
              <a:buFont typeface="Arial"/>
              <a:buChar char="•"/>
            </a:pPr>
            <a:r>
              <a:rPr lang="en-US" sz="2600">
                <a:solidFill>
                  <a:srgbClr val="000000"/>
                </a:solidFill>
                <a:latin typeface="Open Sans 1"/>
                <a:ea typeface="Open Sans 1"/>
                <a:cs typeface="Open Sans 1"/>
                <a:sym typeface="Open Sans 1"/>
              </a:rPr>
              <a:t>non destructibl</a:t>
            </a:r>
          </a:p>
          <a:p>
            <a:pPr algn="ctr" marL="561342" indent="-280671" lvl="1">
              <a:lnSpc>
                <a:spcPts val="3640"/>
              </a:lnSpc>
              <a:spcBef>
                <a:spcPct val="0"/>
              </a:spcBef>
              <a:buFont typeface="Arial"/>
              <a:buChar char="•"/>
            </a:pPr>
            <a:r>
              <a:rPr lang="en-US" sz="2600">
                <a:solidFill>
                  <a:srgbClr val="000000"/>
                </a:solidFill>
                <a:latin typeface="Open Sans 1"/>
                <a:ea typeface="Open Sans 1"/>
                <a:cs typeface="Open Sans 1"/>
                <a:sym typeface="Open Sans 1"/>
              </a:rPr>
              <a:t>poussable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269283" y="5289647"/>
            <a:ext cx="2767023" cy="2767023"/>
          </a:xfrm>
          <a:custGeom>
            <a:avLst/>
            <a:gdLst/>
            <a:ahLst/>
            <a:cxnLst/>
            <a:rect r="r" b="b" t="t" l="l"/>
            <a:pathLst>
              <a:path h="2767023" w="2767023">
                <a:moveTo>
                  <a:pt x="0" y="0"/>
                </a:moveTo>
                <a:lnTo>
                  <a:pt x="2767023" y="0"/>
                </a:lnTo>
                <a:lnTo>
                  <a:pt x="2767023" y="2767023"/>
                </a:lnTo>
                <a:lnTo>
                  <a:pt x="0" y="2767023"/>
                </a:lnTo>
                <a:lnTo>
                  <a:pt x="0" y="0"/>
                </a:lnTo>
                <a:close/>
              </a:path>
            </a:pathLst>
          </a:custGeom>
          <a:blipFill>
            <a:blip r:embed="rId2"/>
            <a:stretch>
              <a:fillRect l="0" t="0" r="0" b="0"/>
            </a:stretch>
          </a:blipFill>
        </p:spPr>
      </p:sp>
      <p:sp>
        <p:nvSpPr>
          <p:cNvPr name="Freeform 3" id="3"/>
          <p:cNvSpPr/>
          <p:nvPr/>
        </p:nvSpPr>
        <p:spPr>
          <a:xfrm flipH="false" flipV="false" rot="0">
            <a:off x="5730180" y="5494779"/>
            <a:ext cx="2539194" cy="2356759"/>
          </a:xfrm>
          <a:custGeom>
            <a:avLst/>
            <a:gdLst/>
            <a:ahLst/>
            <a:cxnLst/>
            <a:rect r="r" b="b" t="t" l="l"/>
            <a:pathLst>
              <a:path h="2356759" w="2539194">
                <a:moveTo>
                  <a:pt x="0" y="0"/>
                </a:moveTo>
                <a:lnTo>
                  <a:pt x="2539194" y="0"/>
                </a:lnTo>
                <a:lnTo>
                  <a:pt x="2539194" y="2356759"/>
                </a:lnTo>
                <a:lnTo>
                  <a:pt x="0" y="2356759"/>
                </a:lnTo>
                <a:lnTo>
                  <a:pt x="0" y="0"/>
                </a:lnTo>
                <a:close/>
              </a:path>
            </a:pathLst>
          </a:custGeom>
          <a:blipFill>
            <a:blip r:embed="rId3"/>
            <a:stretch>
              <a:fillRect l="0" t="0" r="0" b="0"/>
            </a:stretch>
          </a:blipFill>
        </p:spPr>
      </p:sp>
      <p:sp>
        <p:nvSpPr>
          <p:cNvPr name="TextBox 4" id="4"/>
          <p:cNvSpPr txBox="true"/>
          <p:nvPr/>
        </p:nvSpPr>
        <p:spPr>
          <a:xfrm rot="0">
            <a:off x="1028700" y="857250"/>
            <a:ext cx="12122768" cy="1566500"/>
          </a:xfrm>
          <a:prstGeom prst="rect">
            <a:avLst/>
          </a:prstGeom>
        </p:spPr>
        <p:txBody>
          <a:bodyPr anchor="t" rtlCol="false" tIns="0" lIns="0" bIns="0" rIns="0">
            <a:spAutoFit/>
          </a:bodyPr>
          <a:lstStyle/>
          <a:p>
            <a:pPr algn="ctr">
              <a:lnSpc>
                <a:spcPts val="12880"/>
              </a:lnSpc>
            </a:pPr>
            <a:r>
              <a:rPr lang="en-US" sz="9200" b="true">
                <a:solidFill>
                  <a:srgbClr val="000000"/>
                </a:solidFill>
                <a:latin typeface="Open Sans 1 Bold"/>
                <a:ea typeface="Open Sans 1 Bold"/>
                <a:cs typeface="Open Sans 1 Bold"/>
                <a:sym typeface="Open Sans 1 Bold"/>
              </a:rPr>
              <a:t>Level Design Feature</a:t>
            </a:r>
          </a:p>
        </p:txBody>
      </p:sp>
      <p:sp>
        <p:nvSpPr>
          <p:cNvPr name="TextBox 5" id="5"/>
          <p:cNvSpPr txBox="true"/>
          <p:nvPr/>
        </p:nvSpPr>
        <p:spPr>
          <a:xfrm rot="0">
            <a:off x="1028700" y="2328500"/>
            <a:ext cx="12122768" cy="887117"/>
          </a:xfrm>
          <a:prstGeom prst="rect">
            <a:avLst/>
          </a:prstGeom>
        </p:spPr>
        <p:txBody>
          <a:bodyPr anchor="t" rtlCol="false" tIns="0" lIns="0" bIns="0" rIns="0">
            <a:spAutoFit/>
          </a:bodyPr>
          <a:lstStyle/>
          <a:p>
            <a:pPr algn="l">
              <a:lnSpc>
                <a:spcPts val="7279"/>
              </a:lnSpc>
            </a:pPr>
            <a:r>
              <a:rPr lang="en-US" sz="5199" b="true">
                <a:solidFill>
                  <a:srgbClr val="000000"/>
                </a:solidFill>
                <a:latin typeface="Open Sans 1 Bold"/>
                <a:ea typeface="Open Sans 1 Bold"/>
                <a:cs typeface="Open Sans 1 Bold"/>
                <a:sym typeface="Open Sans 1 Bold"/>
              </a:rPr>
              <a:t>Environnement</a:t>
            </a:r>
          </a:p>
        </p:txBody>
      </p:sp>
      <p:sp>
        <p:nvSpPr>
          <p:cNvPr name="TextBox 6" id="6"/>
          <p:cNvSpPr txBox="true"/>
          <p:nvPr/>
        </p:nvSpPr>
        <p:spPr>
          <a:xfrm rot="0">
            <a:off x="9464057" y="5010524"/>
            <a:ext cx="7374823" cy="363819"/>
          </a:xfrm>
          <a:prstGeom prst="rect">
            <a:avLst/>
          </a:prstGeom>
        </p:spPr>
        <p:txBody>
          <a:bodyPr anchor="t" rtlCol="false" tIns="0" lIns="0" bIns="0" rIns="0">
            <a:spAutoFit/>
          </a:bodyPr>
          <a:lstStyle/>
          <a:p>
            <a:pPr algn="ctr">
              <a:lnSpc>
                <a:spcPts val="2730"/>
              </a:lnSpc>
            </a:pPr>
            <a:r>
              <a:rPr lang="en-US" b="true" sz="2600">
                <a:solidFill>
                  <a:srgbClr val="000000"/>
                </a:solidFill>
                <a:latin typeface="Open Sans 2 Bold"/>
                <a:ea typeface="Open Sans 2 Bold"/>
                <a:cs typeface="Open Sans 2 Bold"/>
                <a:sym typeface="Open Sans 2 Bold"/>
              </a:rPr>
              <a:t>Plateforme</a:t>
            </a:r>
          </a:p>
        </p:txBody>
      </p:sp>
      <p:sp>
        <p:nvSpPr>
          <p:cNvPr name="TextBox 7" id="7"/>
          <p:cNvSpPr txBox="true"/>
          <p:nvPr/>
        </p:nvSpPr>
        <p:spPr>
          <a:xfrm rot="0">
            <a:off x="9646589" y="5652286"/>
            <a:ext cx="4039439" cy="701719"/>
          </a:xfrm>
          <a:prstGeom prst="rect">
            <a:avLst/>
          </a:prstGeom>
        </p:spPr>
        <p:txBody>
          <a:bodyPr anchor="t" rtlCol="false" tIns="0" lIns="0" bIns="0" rIns="0">
            <a:spAutoFit/>
          </a:bodyPr>
          <a:lstStyle/>
          <a:p>
            <a:pPr algn="l">
              <a:lnSpc>
                <a:spcPts val="2800"/>
              </a:lnSpc>
            </a:pPr>
            <a:r>
              <a:rPr lang="en-US" sz="2000">
                <a:solidFill>
                  <a:srgbClr val="000000"/>
                </a:solidFill>
                <a:latin typeface="Open Sans 2"/>
                <a:ea typeface="Open Sans 2"/>
                <a:cs typeface="Open Sans 2"/>
                <a:sym typeface="Open Sans 2"/>
              </a:rPr>
              <a:t>Plateforme fixe qui permet un déplacement sur le dessu</a:t>
            </a:r>
          </a:p>
        </p:txBody>
      </p:sp>
      <p:sp>
        <p:nvSpPr>
          <p:cNvPr name="TextBox 8" id="8"/>
          <p:cNvSpPr txBox="true"/>
          <p:nvPr/>
        </p:nvSpPr>
        <p:spPr>
          <a:xfrm rot="0">
            <a:off x="1508209" y="5010524"/>
            <a:ext cx="7374823" cy="363819"/>
          </a:xfrm>
          <a:prstGeom prst="rect">
            <a:avLst/>
          </a:prstGeom>
        </p:spPr>
        <p:txBody>
          <a:bodyPr anchor="t" rtlCol="false" tIns="0" lIns="0" bIns="0" rIns="0">
            <a:spAutoFit/>
          </a:bodyPr>
          <a:lstStyle/>
          <a:p>
            <a:pPr algn="ctr">
              <a:lnSpc>
                <a:spcPts val="2730"/>
              </a:lnSpc>
            </a:pPr>
            <a:r>
              <a:rPr lang="en-US" b="true" sz="2600">
                <a:solidFill>
                  <a:srgbClr val="000000"/>
                </a:solidFill>
                <a:latin typeface="Open Sans 2 Bold"/>
                <a:ea typeface="Open Sans 2 Bold"/>
                <a:cs typeface="Open Sans 2 Bold"/>
                <a:sym typeface="Open Sans 2 Bold"/>
              </a:rPr>
              <a:t>Boîte</a:t>
            </a:r>
          </a:p>
        </p:txBody>
      </p:sp>
      <p:sp>
        <p:nvSpPr>
          <p:cNvPr name="TextBox 9" id="9"/>
          <p:cNvSpPr txBox="true"/>
          <p:nvPr/>
        </p:nvSpPr>
        <p:spPr>
          <a:xfrm rot="0">
            <a:off x="1690742" y="5652286"/>
            <a:ext cx="4039439" cy="701719"/>
          </a:xfrm>
          <a:prstGeom prst="rect">
            <a:avLst/>
          </a:prstGeom>
        </p:spPr>
        <p:txBody>
          <a:bodyPr anchor="t" rtlCol="false" tIns="0" lIns="0" bIns="0" rIns="0">
            <a:spAutoFit/>
          </a:bodyPr>
          <a:lstStyle/>
          <a:p>
            <a:pPr algn="l">
              <a:lnSpc>
                <a:spcPts val="2800"/>
              </a:lnSpc>
            </a:pPr>
            <a:r>
              <a:rPr lang="en-US" sz="2000">
                <a:solidFill>
                  <a:srgbClr val="000000"/>
                </a:solidFill>
                <a:latin typeface="Open Sans 2"/>
                <a:ea typeface="Open Sans 2"/>
                <a:cs typeface="Open Sans 2"/>
                <a:sym typeface="Open Sans 2"/>
              </a:rPr>
              <a:t>Boîte fixe qui permet un déplacement sur le dessu</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201363" y="4274525"/>
            <a:ext cx="9885275" cy="1566500"/>
          </a:xfrm>
          <a:prstGeom prst="rect">
            <a:avLst/>
          </a:prstGeom>
        </p:spPr>
        <p:txBody>
          <a:bodyPr anchor="t" rtlCol="false" tIns="0" lIns="0" bIns="0" rIns="0">
            <a:spAutoFit/>
          </a:bodyPr>
          <a:lstStyle/>
          <a:p>
            <a:pPr algn="ctr">
              <a:lnSpc>
                <a:spcPts val="12880"/>
              </a:lnSpc>
            </a:pPr>
            <a:r>
              <a:rPr lang="en-US" sz="9200" b="true">
                <a:solidFill>
                  <a:srgbClr val="000000"/>
                </a:solidFill>
                <a:latin typeface="Open Sans 1 Bold"/>
                <a:ea typeface="Open Sans 1 Bold"/>
                <a:cs typeface="Open Sans 1 Bold"/>
                <a:sym typeface="Open Sans 1 Bold"/>
              </a:rPr>
              <a:t>Partie Technique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035479" y="2006416"/>
            <a:ext cx="8743570" cy="5825403"/>
          </a:xfrm>
          <a:custGeom>
            <a:avLst/>
            <a:gdLst/>
            <a:ahLst/>
            <a:cxnLst/>
            <a:rect r="r" b="b" t="t" l="l"/>
            <a:pathLst>
              <a:path h="5825403" w="8743570">
                <a:moveTo>
                  <a:pt x="0" y="0"/>
                </a:moveTo>
                <a:lnTo>
                  <a:pt x="8743570" y="0"/>
                </a:lnTo>
                <a:lnTo>
                  <a:pt x="8743570" y="5825403"/>
                </a:lnTo>
                <a:lnTo>
                  <a:pt x="0" y="5825403"/>
                </a:lnTo>
                <a:lnTo>
                  <a:pt x="0" y="0"/>
                </a:lnTo>
                <a:close/>
              </a:path>
            </a:pathLst>
          </a:custGeom>
          <a:blipFill>
            <a:blip r:embed="rId2"/>
            <a:stretch>
              <a:fillRect l="0" t="0" r="0" b="0"/>
            </a:stretch>
          </a:blipFill>
        </p:spPr>
      </p:sp>
      <p:sp>
        <p:nvSpPr>
          <p:cNvPr name="TextBox 3" id="3"/>
          <p:cNvSpPr txBox="true"/>
          <p:nvPr/>
        </p:nvSpPr>
        <p:spPr>
          <a:xfrm rot="0">
            <a:off x="462291" y="1753586"/>
            <a:ext cx="8241511" cy="8093705"/>
          </a:xfrm>
          <a:prstGeom prst="rect">
            <a:avLst/>
          </a:prstGeom>
        </p:spPr>
        <p:txBody>
          <a:bodyPr anchor="t" rtlCol="false" tIns="0" lIns="0" bIns="0" rIns="0">
            <a:spAutoFit/>
          </a:bodyPr>
          <a:lstStyle/>
          <a:p>
            <a:pPr algn="l">
              <a:lnSpc>
                <a:spcPts val="5361"/>
              </a:lnSpc>
            </a:pPr>
            <a:r>
              <a:rPr lang="en-US" sz="3829">
                <a:solidFill>
                  <a:srgbClr val="000000"/>
                </a:solidFill>
                <a:latin typeface="Open Sans 1"/>
                <a:ea typeface="Open Sans 1"/>
                <a:cs typeface="Open Sans 1"/>
                <a:sym typeface="Open Sans 1"/>
              </a:rPr>
              <a:t>Le joueur se déplace le long d’une spline.</a:t>
            </a:r>
          </a:p>
          <a:p>
            <a:pPr algn="l">
              <a:lnSpc>
                <a:spcPts val="5361"/>
              </a:lnSpc>
            </a:pPr>
          </a:p>
          <a:p>
            <a:pPr algn="l" marL="826758" indent="-413379" lvl="1">
              <a:lnSpc>
                <a:spcPts val="5361"/>
              </a:lnSpc>
              <a:buFont typeface="Arial"/>
              <a:buChar char="•"/>
            </a:pPr>
            <a:r>
              <a:rPr lang="en-US" sz="3829">
                <a:solidFill>
                  <a:srgbClr val="000000"/>
                </a:solidFill>
                <a:latin typeface="Open Sans 1"/>
                <a:ea typeface="Open Sans 1"/>
                <a:cs typeface="Open Sans 1"/>
                <a:sym typeface="Open Sans 1"/>
              </a:rPr>
              <a:t>Lors de la pression de l’input la timeline d’accélération ainsi que la “coroutine” de mouvement sont lancé.</a:t>
            </a:r>
          </a:p>
          <a:p>
            <a:pPr algn="l" marL="826758" indent="-413379" lvl="1">
              <a:lnSpc>
                <a:spcPts val="5361"/>
              </a:lnSpc>
              <a:spcBef>
                <a:spcPct val="0"/>
              </a:spcBef>
              <a:buFont typeface="Arial"/>
              <a:buChar char="•"/>
            </a:pPr>
            <a:r>
              <a:rPr lang="en-US" sz="3829">
                <a:solidFill>
                  <a:srgbClr val="000000"/>
                </a:solidFill>
                <a:latin typeface="Open Sans 1"/>
                <a:ea typeface="Open Sans 1"/>
                <a:cs typeface="Open Sans 1"/>
                <a:sym typeface="Open Sans 1"/>
              </a:rPr>
              <a:t>Au relâchement de l’input, la timeline s’inverse pour créer une décélération et lorsque la vitesse atteint 0, là “coroutine” est stoppée.</a:t>
            </a:r>
          </a:p>
        </p:txBody>
      </p:sp>
      <p:sp>
        <p:nvSpPr>
          <p:cNvPr name="TextBox 4" id="4"/>
          <p:cNvSpPr txBox="true"/>
          <p:nvPr/>
        </p:nvSpPr>
        <p:spPr>
          <a:xfrm rot="0">
            <a:off x="1028700" y="159725"/>
            <a:ext cx="3554346" cy="1566500"/>
          </a:xfrm>
          <a:prstGeom prst="rect">
            <a:avLst/>
          </a:prstGeom>
        </p:spPr>
        <p:txBody>
          <a:bodyPr anchor="t" rtlCol="false" tIns="0" lIns="0" bIns="0" rIns="0">
            <a:spAutoFit/>
          </a:bodyPr>
          <a:lstStyle/>
          <a:p>
            <a:pPr algn="ctr">
              <a:lnSpc>
                <a:spcPts val="12880"/>
              </a:lnSpc>
            </a:pPr>
            <a:r>
              <a:rPr lang="en-US" sz="9200" b="true">
                <a:solidFill>
                  <a:srgbClr val="000000"/>
                </a:solidFill>
                <a:latin typeface="Open Sans 1 Bold"/>
                <a:ea typeface="Open Sans 1 Bold"/>
                <a:cs typeface="Open Sans 1 Bold"/>
                <a:sym typeface="Open Sans 1 Bold"/>
              </a:rPr>
              <a:t>Spline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493371" y="5396724"/>
            <a:ext cx="11301259" cy="4379238"/>
          </a:xfrm>
          <a:custGeom>
            <a:avLst/>
            <a:gdLst/>
            <a:ahLst/>
            <a:cxnLst/>
            <a:rect r="r" b="b" t="t" l="l"/>
            <a:pathLst>
              <a:path h="4379238" w="11301259">
                <a:moveTo>
                  <a:pt x="0" y="0"/>
                </a:moveTo>
                <a:lnTo>
                  <a:pt x="11301258" y="0"/>
                </a:lnTo>
                <a:lnTo>
                  <a:pt x="11301258" y="4379238"/>
                </a:lnTo>
                <a:lnTo>
                  <a:pt x="0" y="4379238"/>
                </a:lnTo>
                <a:lnTo>
                  <a:pt x="0" y="0"/>
                </a:lnTo>
                <a:close/>
              </a:path>
            </a:pathLst>
          </a:custGeom>
          <a:blipFill>
            <a:blip r:embed="rId2"/>
            <a:stretch>
              <a:fillRect l="0" t="0" r="0" b="0"/>
            </a:stretch>
          </a:blipFill>
        </p:spPr>
      </p:sp>
      <p:sp>
        <p:nvSpPr>
          <p:cNvPr name="TextBox 3" id="3"/>
          <p:cNvSpPr txBox="true"/>
          <p:nvPr/>
        </p:nvSpPr>
        <p:spPr>
          <a:xfrm rot="0">
            <a:off x="462291" y="1972950"/>
            <a:ext cx="17433919" cy="3642896"/>
          </a:xfrm>
          <a:prstGeom prst="rect">
            <a:avLst/>
          </a:prstGeom>
        </p:spPr>
        <p:txBody>
          <a:bodyPr anchor="t" rtlCol="false" tIns="0" lIns="0" bIns="0" rIns="0">
            <a:spAutoFit/>
          </a:bodyPr>
          <a:lstStyle/>
          <a:p>
            <a:pPr algn="l">
              <a:lnSpc>
                <a:spcPts val="4146"/>
              </a:lnSpc>
            </a:pPr>
            <a:r>
              <a:rPr lang="en-US" sz="2961">
                <a:solidFill>
                  <a:srgbClr val="000000"/>
                </a:solidFill>
                <a:latin typeface="Open Sans 1"/>
                <a:ea typeface="Open Sans 1"/>
                <a:cs typeface="Open Sans 1"/>
                <a:sym typeface="Open Sans 1"/>
              </a:rPr>
              <a:t>Une problématique liée à l’utilisation de la spline est rapidement apparue:</a:t>
            </a:r>
          </a:p>
          <a:p>
            <a:pPr algn="l" marL="639413" indent="-319707" lvl="1">
              <a:lnSpc>
                <a:spcPts val="4146"/>
              </a:lnSpc>
              <a:buFont typeface="Arial"/>
              <a:buChar char="•"/>
            </a:pPr>
            <a:r>
              <a:rPr lang="en-US" sz="2961">
                <a:solidFill>
                  <a:srgbClr val="000000"/>
                </a:solidFill>
                <a:latin typeface="Open Sans 1"/>
                <a:ea typeface="Open Sans 1"/>
                <a:cs typeface="Open Sans 1"/>
                <a:sym typeface="Open Sans 1"/>
              </a:rPr>
              <a:t>Utiliser la physique d’Unreal pour certaines collision provoque des conflit.</a:t>
            </a:r>
          </a:p>
          <a:p>
            <a:pPr algn="l">
              <a:lnSpc>
                <a:spcPts val="4146"/>
              </a:lnSpc>
            </a:pPr>
          </a:p>
          <a:p>
            <a:pPr algn="l">
              <a:lnSpc>
                <a:spcPts val="4146"/>
              </a:lnSpc>
            </a:pPr>
            <a:r>
              <a:rPr lang="en-US" sz="2961">
                <a:solidFill>
                  <a:srgbClr val="000000"/>
                </a:solidFill>
                <a:latin typeface="Open Sans 1"/>
                <a:ea typeface="Open Sans 1"/>
                <a:cs typeface="Open Sans 1"/>
                <a:sym typeface="Open Sans 1"/>
              </a:rPr>
              <a:t>Effectivement le déplacement se faisant à l’aide d’un index utilisé pour parcourir les points de la spline, le personnage forçait la traversé des obstacle.</a:t>
            </a:r>
          </a:p>
          <a:p>
            <a:pPr algn="l">
              <a:lnSpc>
                <a:spcPts val="4146"/>
              </a:lnSpc>
              <a:spcBef>
                <a:spcPct val="0"/>
              </a:spcBef>
            </a:pPr>
            <a:r>
              <a:rPr lang="en-US" sz="2961">
                <a:solidFill>
                  <a:srgbClr val="000000"/>
                </a:solidFill>
                <a:latin typeface="Open Sans 1"/>
                <a:ea typeface="Open Sans 1"/>
                <a:cs typeface="Open Sans 1"/>
                <a:sym typeface="Open Sans 1"/>
              </a:rPr>
              <a:t>C’est pour cela qu’on retrouve des test par “Line Trace” pour bloquer le mouvement sans utiliser la physique.</a:t>
            </a:r>
          </a:p>
        </p:txBody>
      </p:sp>
      <p:sp>
        <p:nvSpPr>
          <p:cNvPr name="TextBox 4" id="4"/>
          <p:cNvSpPr txBox="true"/>
          <p:nvPr/>
        </p:nvSpPr>
        <p:spPr>
          <a:xfrm rot="0">
            <a:off x="1028700" y="159725"/>
            <a:ext cx="5301258" cy="1566500"/>
          </a:xfrm>
          <a:prstGeom prst="rect">
            <a:avLst/>
          </a:prstGeom>
        </p:spPr>
        <p:txBody>
          <a:bodyPr anchor="t" rtlCol="false" tIns="0" lIns="0" bIns="0" rIns="0">
            <a:spAutoFit/>
          </a:bodyPr>
          <a:lstStyle/>
          <a:p>
            <a:pPr algn="l">
              <a:lnSpc>
                <a:spcPts val="12880"/>
              </a:lnSpc>
            </a:pPr>
            <a:r>
              <a:rPr lang="en-US" sz="9200" b="true">
                <a:solidFill>
                  <a:srgbClr val="000000"/>
                </a:solidFill>
                <a:latin typeface="Open Sans 1 Bold"/>
                <a:ea typeface="Open Sans 1 Bold"/>
                <a:cs typeface="Open Sans 1 Bold"/>
                <a:sym typeface="Open Sans 1 Bold"/>
              </a:rPr>
              <a:t>Physique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4800202"/>
            <a:ext cx="16230600" cy="4179379"/>
          </a:xfrm>
          <a:custGeom>
            <a:avLst/>
            <a:gdLst/>
            <a:ahLst/>
            <a:cxnLst/>
            <a:rect r="r" b="b" t="t" l="l"/>
            <a:pathLst>
              <a:path h="4179379" w="16230600">
                <a:moveTo>
                  <a:pt x="0" y="0"/>
                </a:moveTo>
                <a:lnTo>
                  <a:pt x="16230600" y="0"/>
                </a:lnTo>
                <a:lnTo>
                  <a:pt x="16230600" y="4179379"/>
                </a:lnTo>
                <a:lnTo>
                  <a:pt x="0" y="4179379"/>
                </a:lnTo>
                <a:lnTo>
                  <a:pt x="0" y="0"/>
                </a:lnTo>
                <a:close/>
              </a:path>
            </a:pathLst>
          </a:custGeom>
          <a:blipFill>
            <a:blip r:embed="rId2"/>
            <a:stretch>
              <a:fillRect l="0" t="0" r="0" b="0"/>
            </a:stretch>
          </a:blipFill>
        </p:spPr>
      </p:sp>
      <p:sp>
        <p:nvSpPr>
          <p:cNvPr name="TextBox 3" id="3"/>
          <p:cNvSpPr txBox="true"/>
          <p:nvPr/>
        </p:nvSpPr>
        <p:spPr>
          <a:xfrm rot="0">
            <a:off x="1028700" y="159725"/>
            <a:ext cx="11636706" cy="1566500"/>
          </a:xfrm>
          <a:prstGeom prst="rect">
            <a:avLst/>
          </a:prstGeom>
        </p:spPr>
        <p:txBody>
          <a:bodyPr anchor="t" rtlCol="false" tIns="0" lIns="0" bIns="0" rIns="0">
            <a:spAutoFit/>
          </a:bodyPr>
          <a:lstStyle/>
          <a:p>
            <a:pPr algn="l">
              <a:lnSpc>
                <a:spcPts val="12880"/>
              </a:lnSpc>
            </a:pPr>
            <a:r>
              <a:rPr lang="en-US" sz="9200" b="true">
                <a:solidFill>
                  <a:srgbClr val="000000"/>
                </a:solidFill>
                <a:latin typeface="Open Sans 1 Bold"/>
                <a:ea typeface="Open Sans 1 Bold"/>
                <a:cs typeface="Open Sans 1 Bold"/>
                <a:sym typeface="Open Sans 1 Bold"/>
              </a:rPr>
              <a:t>Piste d’optimisation</a:t>
            </a:r>
          </a:p>
        </p:txBody>
      </p:sp>
      <p:sp>
        <p:nvSpPr>
          <p:cNvPr name="TextBox 4" id="4"/>
          <p:cNvSpPr txBox="true"/>
          <p:nvPr/>
        </p:nvSpPr>
        <p:spPr>
          <a:xfrm rot="0">
            <a:off x="1028700" y="1650025"/>
            <a:ext cx="16230600" cy="2683858"/>
          </a:xfrm>
          <a:prstGeom prst="rect">
            <a:avLst/>
          </a:prstGeom>
        </p:spPr>
        <p:txBody>
          <a:bodyPr anchor="t" rtlCol="false" tIns="0" lIns="0" bIns="0" rIns="0">
            <a:spAutoFit/>
          </a:bodyPr>
          <a:lstStyle/>
          <a:p>
            <a:pPr algn="l">
              <a:lnSpc>
                <a:spcPts val="5361"/>
              </a:lnSpc>
              <a:spcBef>
                <a:spcPct val="0"/>
              </a:spcBef>
            </a:pPr>
            <a:r>
              <a:rPr lang="en-US" sz="3829">
                <a:solidFill>
                  <a:srgbClr val="000000"/>
                </a:solidFill>
                <a:latin typeface="Open Sans 1"/>
                <a:ea typeface="Open Sans 1"/>
                <a:cs typeface="Open Sans 1"/>
                <a:sym typeface="Open Sans 1"/>
              </a:rPr>
              <a:t>Pour le lancement de l’animation d’atterrissage on détecte le sol dans un tick. Ce test pourrait s’avérer moins lourd si on utilisait la variable “IsFalling” du character mouvement component pour ce test. Cela impliquerait probablement une modification de la logique du test.</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900668" y="2242015"/>
            <a:ext cx="8876437" cy="5802971"/>
          </a:xfrm>
          <a:custGeom>
            <a:avLst/>
            <a:gdLst/>
            <a:ahLst/>
            <a:cxnLst/>
            <a:rect r="r" b="b" t="t" l="l"/>
            <a:pathLst>
              <a:path h="5802971" w="8876437">
                <a:moveTo>
                  <a:pt x="0" y="0"/>
                </a:moveTo>
                <a:lnTo>
                  <a:pt x="8876437" y="0"/>
                </a:lnTo>
                <a:lnTo>
                  <a:pt x="8876437" y="5802970"/>
                </a:lnTo>
                <a:lnTo>
                  <a:pt x="0" y="5802970"/>
                </a:lnTo>
                <a:lnTo>
                  <a:pt x="0" y="0"/>
                </a:lnTo>
                <a:close/>
              </a:path>
            </a:pathLst>
          </a:custGeom>
          <a:blipFill>
            <a:blip r:embed="rId2"/>
            <a:stretch>
              <a:fillRect l="0" t="0" r="0" b="0"/>
            </a:stretch>
          </a:blipFill>
        </p:spPr>
      </p:sp>
      <p:sp>
        <p:nvSpPr>
          <p:cNvPr name="TextBox 3" id="3"/>
          <p:cNvSpPr txBox="true"/>
          <p:nvPr/>
        </p:nvSpPr>
        <p:spPr>
          <a:xfrm rot="0">
            <a:off x="379724" y="1650025"/>
            <a:ext cx="8258771" cy="7417474"/>
          </a:xfrm>
          <a:prstGeom prst="rect">
            <a:avLst/>
          </a:prstGeom>
        </p:spPr>
        <p:txBody>
          <a:bodyPr anchor="t" rtlCol="false" tIns="0" lIns="0" bIns="0" rIns="0">
            <a:spAutoFit/>
          </a:bodyPr>
          <a:lstStyle/>
          <a:p>
            <a:pPr algn="l">
              <a:lnSpc>
                <a:spcPts val="5361"/>
              </a:lnSpc>
            </a:pPr>
            <a:r>
              <a:rPr lang="en-US" sz="3829">
                <a:solidFill>
                  <a:srgbClr val="000000"/>
                </a:solidFill>
                <a:latin typeface="Open Sans 1"/>
                <a:ea typeface="Open Sans 1"/>
                <a:cs typeface="Open Sans 1"/>
                <a:sym typeface="Open Sans 1"/>
              </a:rPr>
              <a:t>En ce qui concerne les animations, le plugin “Logic Drive Lite” a été ajouté au projet. Il est utilisé uniquement pour la gestion des animations. Les passages entre les états se font par la comparaison de valeur d’un enum.</a:t>
            </a:r>
          </a:p>
          <a:p>
            <a:pPr algn="l">
              <a:lnSpc>
                <a:spcPts val="5361"/>
              </a:lnSpc>
              <a:spcBef>
                <a:spcPct val="0"/>
              </a:spcBef>
            </a:pPr>
            <a:r>
              <a:rPr lang="en-US" sz="3829">
                <a:solidFill>
                  <a:srgbClr val="000000"/>
                </a:solidFill>
                <a:latin typeface="Open Sans 1"/>
                <a:ea typeface="Open Sans 1"/>
                <a:cs typeface="Open Sans 1"/>
                <a:sym typeface="Open Sans 1"/>
              </a:rPr>
              <a:t>Lors du lancement de chaque état, une animation associée à la valeur actuelle de l’enum via un dictionnaire est lancée.</a:t>
            </a:r>
          </a:p>
        </p:txBody>
      </p:sp>
      <p:sp>
        <p:nvSpPr>
          <p:cNvPr name="TextBox 4" id="4"/>
          <p:cNvSpPr txBox="true"/>
          <p:nvPr/>
        </p:nvSpPr>
        <p:spPr>
          <a:xfrm rot="0">
            <a:off x="1028700" y="159725"/>
            <a:ext cx="6719535" cy="1566500"/>
          </a:xfrm>
          <a:prstGeom prst="rect">
            <a:avLst/>
          </a:prstGeom>
        </p:spPr>
        <p:txBody>
          <a:bodyPr anchor="t" rtlCol="false" tIns="0" lIns="0" bIns="0" rIns="0">
            <a:spAutoFit/>
          </a:bodyPr>
          <a:lstStyle/>
          <a:p>
            <a:pPr algn="ctr">
              <a:lnSpc>
                <a:spcPts val="12880"/>
              </a:lnSpc>
            </a:pPr>
            <a:r>
              <a:rPr lang="en-US" sz="9200" b="true">
                <a:solidFill>
                  <a:srgbClr val="000000"/>
                </a:solidFill>
                <a:latin typeface="Open Sans 1 Bold"/>
                <a:ea typeface="Open Sans 1 Bold"/>
                <a:cs typeface="Open Sans 1 Bold"/>
                <a:sym typeface="Open Sans 1 Bold"/>
              </a:rPr>
              <a:t>Animations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266772" y="1859611"/>
            <a:ext cx="1992528" cy="3233384"/>
          </a:xfrm>
          <a:custGeom>
            <a:avLst/>
            <a:gdLst/>
            <a:ahLst/>
            <a:cxnLst/>
            <a:rect r="r" b="b" t="t" l="l"/>
            <a:pathLst>
              <a:path h="3233384" w="1992528">
                <a:moveTo>
                  <a:pt x="0" y="0"/>
                </a:moveTo>
                <a:lnTo>
                  <a:pt x="1992528" y="0"/>
                </a:lnTo>
                <a:lnTo>
                  <a:pt x="1992528" y="3233384"/>
                </a:lnTo>
                <a:lnTo>
                  <a:pt x="0" y="3233384"/>
                </a:lnTo>
                <a:lnTo>
                  <a:pt x="0" y="0"/>
                </a:lnTo>
                <a:close/>
              </a:path>
            </a:pathLst>
          </a:custGeom>
          <a:blipFill>
            <a:blip r:embed="rId2"/>
            <a:stretch>
              <a:fillRect l="0" t="0" r="0" b="0"/>
            </a:stretch>
          </a:blipFill>
        </p:spPr>
      </p:sp>
      <p:sp>
        <p:nvSpPr>
          <p:cNvPr name="Freeform 3" id="3"/>
          <p:cNvSpPr/>
          <p:nvPr/>
        </p:nvSpPr>
        <p:spPr>
          <a:xfrm flipH="false" flipV="false" rot="0">
            <a:off x="1028700" y="5484685"/>
            <a:ext cx="16230600" cy="3773615"/>
          </a:xfrm>
          <a:custGeom>
            <a:avLst/>
            <a:gdLst/>
            <a:ahLst/>
            <a:cxnLst/>
            <a:rect r="r" b="b" t="t" l="l"/>
            <a:pathLst>
              <a:path h="3773615" w="16230600">
                <a:moveTo>
                  <a:pt x="0" y="0"/>
                </a:moveTo>
                <a:lnTo>
                  <a:pt x="16230600" y="0"/>
                </a:lnTo>
                <a:lnTo>
                  <a:pt x="16230600" y="3773615"/>
                </a:lnTo>
                <a:lnTo>
                  <a:pt x="0" y="3773615"/>
                </a:lnTo>
                <a:lnTo>
                  <a:pt x="0" y="0"/>
                </a:lnTo>
                <a:close/>
              </a:path>
            </a:pathLst>
          </a:custGeom>
          <a:blipFill>
            <a:blip r:embed="rId3"/>
            <a:stretch>
              <a:fillRect l="0" t="0" r="0" b="0"/>
            </a:stretch>
          </a:blipFill>
        </p:spPr>
      </p:sp>
      <p:sp>
        <p:nvSpPr>
          <p:cNvPr name="TextBox 4" id="4"/>
          <p:cNvSpPr txBox="true"/>
          <p:nvPr/>
        </p:nvSpPr>
        <p:spPr>
          <a:xfrm rot="0">
            <a:off x="1028700" y="1783411"/>
            <a:ext cx="13385044" cy="3360089"/>
          </a:xfrm>
          <a:prstGeom prst="rect">
            <a:avLst/>
          </a:prstGeom>
        </p:spPr>
        <p:txBody>
          <a:bodyPr anchor="t" rtlCol="false" tIns="0" lIns="0" bIns="0" rIns="0">
            <a:spAutoFit/>
          </a:bodyPr>
          <a:lstStyle/>
          <a:p>
            <a:pPr algn="l">
              <a:lnSpc>
                <a:spcPts val="5361"/>
              </a:lnSpc>
            </a:pPr>
            <a:r>
              <a:rPr lang="en-US" sz="3829">
                <a:solidFill>
                  <a:srgbClr val="000000"/>
                </a:solidFill>
                <a:latin typeface="Open Sans 1"/>
                <a:ea typeface="Open Sans 1"/>
                <a:cs typeface="Open Sans 1"/>
                <a:sym typeface="Open Sans 1"/>
              </a:rPr>
              <a:t>Pour pallier au bug empêchant de set les animations en mode “not looping” j’ai développer ce component.</a:t>
            </a:r>
          </a:p>
          <a:p>
            <a:pPr algn="l">
              <a:lnSpc>
                <a:spcPts val="5361"/>
              </a:lnSpc>
              <a:spcBef>
                <a:spcPct val="0"/>
              </a:spcBef>
            </a:pPr>
            <a:r>
              <a:rPr lang="en-US" sz="3829">
                <a:solidFill>
                  <a:srgbClr val="000000"/>
                </a:solidFill>
                <a:latin typeface="Open Sans 1"/>
                <a:ea typeface="Open Sans 1"/>
                <a:cs typeface="Open Sans 1"/>
                <a:sym typeface="Open Sans 1"/>
              </a:rPr>
              <a:t>Il est utilisé par les state machines pour arrêter les animations qui ne sont pas supposée loop. Lors du fix du bug, il faudra retirer le component de leur logique.</a:t>
            </a:r>
          </a:p>
        </p:txBody>
      </p:sp>
      <p:sp>
        <p:nvSpPr>
          <p:cNvPr name="TextBox 5" id="5"/>
          <p:cNvSpPr txBox="true"/>
          <p:nvPr/>
        </p:nvSpPr>
        <p:spPr>
          <a:xfrm rot="0">
            <a:off x="1028700" y="159725"/>
            <a:ext cx="8606786" cy="1566500"/>
          </a:xfrm>
          <a:prstGeom prst="rect">
            <a:avLst/>
          </a:prstGeom>
        </p:spPr>
        <p:txBody>
          <a:bodyPr anchor="t" rtlCol="false" tIns="0" lIns="0" bIns="0" rIns="0">
            <a:spAutoFit/>
          </a:bodyPr>
          <a:lstStyle/>
          <a:p>
            <a:pPr algn="l">
              <a:lnSpc>
                <a:spcPts val="12880"/>
              </a:lnSpc>
            </a:pPr>
            <a:r>
              <a:rPr lang="en-US" sz="9200" b="true">
                <a:solidFill>
                  <a:srgbClr val="000000"/>
                </a:solidFill>
                <a:latin typeface="Open Sans 1 Bold"/>
                <a:ea typeface="Open Sans 1 Bold"/>
                <a:cs typeface="Open Sans 1 Bold"/>
                <a:sym typeface="Open Sans 1 Bold"/>
              </a:rPr>
              <a:t>Frame counter</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864477" y="2236394"/>
            <a:ext cx="8809412" cy="5814212"/>
          </a:xfrm>
          <a:custGeom>
            <a:avLst/>
            <a:gdLst/>
            <a:ahLst/>
            <a:cxnLst/>
            <a:rect r="r" b="b" t="t" l="l"/>
            <a:pathLst>
              <a:path h="5814212" w="8809412">
                <a:moveTo>
                  <a:pt x="0" y="0"/>
                </a:moveTo>
                <a:lnTo>
                  <a:pt x="8809412" y="0"/>
                </a:lnTo>
                <a:lnTo>
                  <a:pt x="8809412" y="5814212"/>
                </a:lnTo>
                <a:lnTo>
                  <a:pt x="0" y="5814212"/>
                </a:lnTo>
                <a:lnTo>
                  <a:pt x="0" y="0"/>
                </a:lnTo>
                <a:close/>
              </a:path>
            </a:pathLst>
          </a:custGeom>
          <a:blipFill>
            <a:blip r:embed="rId2"/>
            <a:stretch>
              <a:fillRect l="0" t="0" r="0" b="0"/>
            </a:stretch>
          </a:blipFill>
        </p:spPr>
      </p:sp>
      <p:sp>
        <p:nvSpPr>
          <p:cNvPr name="TextBox 3" id="3"/>
          <p:cNvSpPr txBox="true"/>
          <p:nvPr/>
        </p:nvSpPr>
        <p:spPr>
          <a:xfrm rot="0">
            <a:off x="1028700" y="159725"/>
            <a:ext cx="3924543" cy="1566500"/>
          </a:xfrm>
          <a:prstGeom prst="rect">
            <a:avLst/>
          </a:prstGeom>
        </p:spPr>
        <p:txBody>
          <a:bodyPr anchor="t" rtlCol="false" tIns="0" lIns="0" bIns="0" rIns="0">
            <a:spAutoFit/>
          </a:bodyPr>
          <a:lstStyle/>
          <a:p>
            <a:pPr algn="ctr">
              <a:lnSpc>
                <a:spcPts val="12880"/>
              </a:lnSpc>
            </a:pPr>
            <a:r>
              <a:rPr lang="en-US" sz="9200" b="true">
                <a:solidFill>
                  <a:srgbClr val="000000"/>
                </a:solidFill>
                <a:latin typeface="Open Sans 1 Bold"/>
                <a:ea typeface="Open Sans 1 Bold"/>
                <a:cs typeface="Open Sans 1 Bold"/>
                <a:sym typeface="Open Sans 1 Bold"/>
              </a:rPr>
              <a:t>Enemy</a:t>
            </a:r>
          </a:p>
        </p:txBody>
      </p:sp>
      <p:sp>
        <p:nvSpPr>
          <p:cNvPr name="TextBox 4" id="4"/>
          <p:cNvSpPr txBox="true"/>
          <p:nvPr/>
        </p:nvSpPr>
        <p:spPr>
          <a:xfrm rot="0">
            <a:off x="379724" y="1650025"/>
            <a:ext cx="8258771" cy="6065013"/>
          </a:xfrm>
          <a:prstGeom prst="rect">
            <a:avLst/>
          </a:prstGeom>
        </p:spPr>
        <p:txBody>
          <a:bodyPr anchor="t" rtlCol="false" tIns="0" lIns="0" bIns="0" rIns="0">
            <a:spAutoFit/>
          </a:bodyPr>
          <a:lstStyle/>
          <a:p>
            <a:pPr algn="l">
              <a:lnSpc>
                <a:spcPts val="5361"/>
              </a:lnSpc>
            </a:pPr>
            <a:r>
              <a:rPr lang="en-US" sz="3829">
                <a:solidFill>
                  <a:srgbClr val="000000"/>
                </a:solidFill>
                <a:latin typeface="Open Sans 1"/>
                <a:ea typeface="Open Sans 1"/>
                <a:cs typeface="Open Sans 1"/>
                <a:sym typeface="Open Sans 1"/>
              </a:rPr>
              <a:t>Le contrôleur de l’ennemie effectue un changement d’état et appel l’update de l’animation lors de la détection du joueur.</a:t>
            </a:r>
          </a:p>
          <a:p>
            <a:pPr algn="l">
              <a:lnSpc>
                <a:spcPts val="5361"/>
              </a:lnSpc>
            </a:pPr>
            <a:r>
              <a:rPr lang="en-US" sz="3829">
                <a:solidFill>
                  <a:srgbClr val="000000"/>
                </a:solidFill>
                <a:latin typeface="Open Sans 1"/>
                <a:ea typeface="Open Sans 1"/>
                <a:cs typeface="Open Sans 1"/>
                <a:sym typeface="Open Sans 1"/>
              </a:rPr>
              <a:t>Cela permet le fonctionnement du behavior tree ainsi que des transitions d’animations.</a:t>
            </a:r>
          </a:p>
          <a:p>
            <a:pPr algn="l">
              <a:lnSpc>
                <a:spcPts val="5361"/>
              </a:lnSpc>
              <a:spcBef>
                <a:spcPct val="0"/>
              </a:spcBef>
            </a:pPr>
            <a:r>
              <a:rPr lang="en-US" sz="3829">
                <a:solidFill>
                  <a:srgbClr val="000000"/>
                </a:solidFill>
                <a:latin typeface="Open Sans 1"/>
                <a:ea typeface="Open Sans 1"/>
                <a:cs typeface="Open Sans 1"/>
                <a:sym typeface="Open Sans 1"/>
              </a:rPr>
              <a:t>Animations fonctionnant sur le même model que le player.</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260808" y="706966"/>
            <a:ext cx="8603789" cy="4639647"/>
          </a:xfrm>
          <a:custGeom>
            <a:avLst/>
            <a:gdLst/>
            <a:ahLst/>
            <a:cxnLst/>
            <a:rect r="r" b="b" t="t" l="l"/>
            <a:pathLst>
              <a:path h="4639647" w="8603789">
                <a:moveTo>
                  <a:pt x="0" y="0"/>
                </a:moveTo>
                <a:lnTo>
                  <a:pt x="8603789" y="0"/>
                </a:lnTo>
                <a:lnTo>
                  <a:pt x="8603789" y="4639647"/>
                </a:lnTo>
                <a:lnTo>
                  <a:pt x="0" y="4639647"/>
                </a:lnTo>
                <a:lnTo>
                  <a:pt x="0" y="0"/>
                </a:lnTo>
                <a:close/>
              </a:path>
            </a:pathLst>
          </a:custGeom>
          <a:blipFill>
            <a:blip r:embed="rId2"/>
            <a:stretch>
              <a:fillRect l="0" t="0" r="0" b="0"/>
            </a:stretch>
          </a:blipFill>
        </p:spPr>
      </p:sp>
      <p:sp>
        <p:nvSpPr>
          <p:cNvPr name="Freeform 3" id="3"/>
          <p:cNvSpPr/>
          <p:nvPr/>
        </p:nvSpPr>
        <p:spPr>
          <a:xfrm flipH="false" flipV="false" rot="0">
            <a:off x="9260808" y="5493234"/>
            <a:ext cx="8603789" cy="4086800"/>
          </a:xfrm>
          <a:custGeom>
            <a:avLst/>
            <a:gdLst/>
            <a:ahLst/>
            <a:cxnLst/>
            <a:rect r="r" b="b" t="t" l="l"/>
            <a:pathLst>
              <a:path h="4086800" w="8603789">
                <a:moveTo>
                  <a:pt x="0" y="0"/>
                </a:moveTo>
                <a:lnTo>
                  <a:pt x="8603789" y="0"/>
                </a:lnTo>
                <a:lnTo>
                  <a:pt x="8603789" y="4086800"/>
                </a:lnTo>
                <a:lnTo>
                  <a:pt x="0" y="4086800"/>
                </a:lnTo>
                <a:lnTo>
                  <a:pt x="0" y="0"/>
                </a:lnTo>
                <a:close/>
              </a:path>
            </a:pathLst>
          </a:custGeom>
          <a:blipFill>
            <a:blip r:embed="rId3"/>
            <a:stretch>
              <a:fillRect l="0" t="0" r="0" b="0"/>
            </a:stretch>
          </a:blipFill>
        </p:spPr>
      </p:sp>
      <p:sp>
        <p:nvSpPr>
          <p:cNvPr name="TextBox 4" id="4"/>
          <p:cNvSpPr txBox="true"/>
          <p:nvPr/>
        </p:nvSpPr>
        <p:spPr>
          <a:xfrm rot="0">
            <a:off x="1028700" y="159725"/>
            <a:ext cx="5912776" cy="1566500"/>
          </a:xfrm>
          <a:prstGeom prst="rect">
            <a:avLst/>
          </a:prstGeom>
        </p:spPr>
        <p:txBody>
          <a:bodyPr anchor="t" rtlCol="false" tIns="0" lIns="0" bIns="0" rIns="0">
            <a:spAutoFit/>
          </a:bodyPr>
          <a:lstStyle/>
          <a:p>
            <a:pPr algn="l">
              <a:lnSpc>
                <a:spcPts val="12880"/>
              </a:lnSpc>
            </a:pPr>
            <a:r>
              <a:rPr lang="en-US" sz="9200" b="true">
                <a:solidFill>
                  <a:srgbClr val="000000"/>
                </a:solidFill>
                <a:latin typeface="Open Sans 1 Bold"/>
                <a:ea typeface="Open Sans 1 Bold"/>
                <a:cs typeface="Open Sans 1 Bold"/>
                <a:sym typeface="Open Sans 1 Bold"/>
              </a:rPr>
              <a:t>Interfaces</a:t>
            </a:r>
          </a:p>
        </p:txBody>
      </p:sp>
      <p:sp>
        <p:nvSpPr>
          <p:cNvPr name="TextBox 5" id="5"/>
          <p:cNvSpPr txBox="true"/>
          <p:nvPr/>
        </p:nvSpPr>
        <p:spPr>
          <a:xfrm rot="0">
            <a:off x="379724" y="1650025"/>
            <a:ext cx="8258771" cy="5388782"/>
          </a:xfrm>
          <a:prstGeom prst="rect">
            <a:avLst/>
          </a:prstGeom>
        </p:spPr>
        <p:txBody>
          <a:bodyPr anchor="t" rtlCol="false" tIns="0" lIns="0" bIns="0" rIns="0">
            <a:spAutoFit/>
          </a:bodyPr>
          <a:lstStyle/>
          <a:p>
            <a:pPr algn="l">
              <a:lnSpc>
                <a:spcPts val="5361"/>
              </a:lnSpc>
            </a:pPr>
            <a:r>
              <a:rPr lang="en-US" sz="3829">
                <a:solidFill>
                  <a:srgbClr val="000000"/>
                </a:solidFill>
                <a:latin typeface="Open Sans 1"/>
                <a:ea typeface="Open Sans 1"/>
                <a:cs typeface="Open Sans 1"/>
                <a:sym typeface="Open Sans 1"/>
              </a:rPr>
              <a:t>J’essaie d’utiliser au maximum les interfaces comme par exemple pour l’attaque du player. Par exemple, cela m’évite de caster un BP_Enemy.</a:t>
            </a:r>
          </a:p>
          <a:p>
            <a:pPr algn="l">
              <a:lnSpc>
                <a:spcPts val="5361"/>
              </a:lnSpc>
              <a:spcBef>
                <a:spcPct val="0"/>
              </a:spcBef>
            </a:pPr>
            <a:r>
              <a:rPr lang="en-US" sz="3829">
                <a:solidFill>
                  <a:srgbClr val="000000"/>
                </a:solidFill>
                <a:latin typeface="Open Sans 1"/>
                <a:ea typeface="Open Sans 1"/>
                <a:cs typeface="Open Sans 1"/>
                <a:sym typeface="Open Sans 1"/>
              </a:rPr>
              <a:t>Peut importe l’actor détecté, unreal essaie de lui faire appliquer “GetHit”. Si l’actor n’a pas l’interface, rien ne se passera.</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109439" y="717792"/>
            <a:ext cx="7424138" cy="3664724"/>
          </a:xfrm>
          <a:custGeom>
            <a:avLst/>
            <a:gdLst/>
            <a:ahLst/>
            <a:cxnLst/>
            <a:rect r="r" b="b" t="t" l="l"/>
            <a:pathLst>
              <a:path h="3664724" w="7424138">
                <a:moveTo>
                  <a:pt x="0" y="0"/>
                </a:moveTo>
                <a:lnTo>
                  <a:pt x="7424139" y="0"/>
                </a:lnTo>
                <a:lnTo>
                  <a:pt x="7424139" y="3664724"/>
                </a:lnTo>
                <a:lnTo>
                  <a:pt x="0" y="3664724"/>
                </a:lnTo>
                <a:lnTo>
                  <a:pt x="0" y="0"/>
                </a:lnTo>
                <a:close/>
              </a:path>
            </a:pathLst>
          </a:custGeom>
          <a:blipFill>
            <a:blip r:embed="rId2"/>
            <a:stretch>
              <a:fillRect l="0" t="-63094" r="0" b="0"/>
            </a:stretch>
          </a:blipFill>
        </p:spPr>
      </p:sp>
      <p:sp>
        <p:nvSpPr>
          <p:cNvPr name="Freeform 3" id="3"/>
          <p:cNvSpPr/>
          <p:nvPr/>
        </p:nvSpPr>
        <p:spPr>
          <a:xfrm flipH="false" flipV="false" rot="0">
            <a:off x="10109439" y="4794967"/>
            <a:ext cx="7424138" cy="4993369"/>
          </a:xfrm>
          <a:custGeom>
            <a:avLst/>
            <a:gdLst/>
            <a:ahLst/>
            <a:cxnLst/>
            <a:rect r="r" b="b" t="t" l="l"/>
            <a:pathLst>
              <a:path h="4993369" w="7424138">
                <a:moveTo>
                  <a:pt x="0" y="0"/>
                </a:moveTo>
                <a:lnTo>
                  <a:pt x="7424139" y="0"/>
                </a:lnTo>
                <a:lnTo>
                  <a:pt x="7424139" y="4993370"/>
                </a:lnTo>
                <a:lnTo>
                  <a:pt x="0" y="4993370"/>
                </a:lnTo>
                <a:lnTo>
                  <a:pt x="0" y="0"/>
                </a:lnTo>
                <a:close/>
              </a:path>
            </a:pathLst>
          </a:custGeom>
          <a:blipFill>
            <a:blip r:embed="rId3"/>
            <a:stretch>
              <a:fillRect l="0" t="-17719" r="0" b="-25234"/>
            </a:stretch>
          </a:blipFill>
        </p:spPr>
      </p:sp>
      <p:sp>
        <p:nvSpPr>
          <p:cNvPr name="TextBox 4" id="4"/>
          <p:cNvSpPr txBox="true"/>
          <p:nvPr/>
        </p:nvSpPr>
        <p:spPr>
          <a:xfrm rot="0">
            <a:off x="1028700" y="159725"/>
            <a:ext cx="5912776" cy="1566500"/>
          </a:xfrm>
          <a:prstGeom prst="rect">
            <a:avLst/>
          </a:prstGeom>
        </p:spPr>
        <p:txBody>
          <a:bodyPr anchor="t" rtlCol="false" tIns="0" lIns="0" bIns="0" rIns="0">
            <a:spAutoFit/>
          </a:bodyPr>
          <a:lstStyle/>
          <a:p>
            <a:pPr algn="l">
              <a:lnSpc>
                <a:spcPts val="12880"/>
              </a:lnSpc>
            </a:pPr>
            <a:r>
              <a:rPr lang="en-US" sz="9200" b="true">
                <a:solidFill>
                  <a:srgbClr val="000000"/>
                </a:solidFill>
                <a:latin typeface="Open Sans 1 Bold"/>
                <a:ea typeface="Open Sans 1 Bold"/>
                <a:cs typeface="Open Sans 1 Bold"/>
                <a:sym typeface="Open Sans 1 Bold"/>
              </a:rPr>
              <a:t>Interfaces</a:t>
            </a:r>
          </a:p>
        </p:txBody>
      </p:sp>
      <p:sp>
        <p:nvSpPr>
          <p:cNvPr name="TextBox 5" id="5"/>
          <p:cNvSpPr txBox="true"/>
          <p:nvPr/>
        </p:nvSpPr>
        <p:spPr>
          <a:xfrm rot="0">
            <a:off x="448765" y="1851770"/>
            <a:ext cx="9346163" cy="7406530"/>
          </a:xfrm>
          <a:prstGeom prst="rect">
            <a:avLst/>
          </a:prstGeom>
        </p:spPr>
        <p:txBody>
          <a:bodyPr anchor="t" rtlCol="false" tIns="0" lIns="0" bIns="0" rIns="0">
            <a:spAutoFit/>
          </a:bodyPr>
          <a:lstStyle/>
          <a:p>
            <a:pPr algn="l">
              <a:lnSpc>
                <a:spcPts val="4941"/>
              </a:lnSpc>
            </a:pPr>
            <a:r>
              <a:rPr lang="en-US" sz="3529">
                <a:solidFill>
                  <a:srgbClr val="000000"/>
                </a:solidFill>
                <a:latin typeface="Open Sans 1"/>
                <a:ea typeface="Open Sans 1"/>
                <a:cs typeface="Open Sans 1"/>
                <a:sym typeface="Open Sans 1"/>
              </a:rPr>
              <a:t>Dans le level, un object “PostProcessVolume” applique le cell-shading ainsi que l’outline qui fait ressortir les contours d’objet.</a:t>
            </a:r>
          </a:p>
          <a:p>
            <a:pPr algn="l">
              <a:lnSpc>
                <a:spcPts val="4941"/>
              </a:lnSpc>
            </a:pPr>
            <a:r>
              <a:rPr lang="en-US" sz="3529">
                <a:solidFill>
                  <a:srgbClr val="000000"/>
                </a:solidFill>
                <a:latin typeface="Open Sans 1"/>
                <a:ea typeface="Open Sans 1"/>
                <a:cs typeface="Open Sans 1"/>
                <a:sym typeface="Open Sans 1"/>
              </a:rPr>
              <a:t>J’ai développé ces deux post process effects à l’aide de deux vidéos de Evans de la chaîne Gamedev Teacher.</a:t>
            </a:r>
          </a:p>
          <a:p>
            <a:pPr algn="l">
              <a:lnSpc>
                <a:spcPts val="4941"/>
              </a:lnSpc>
            </a:pPr>
            <a:r>
              <a:rPr lang="en-US" sz="3529">
                <a:solidFill>
                  <a:srgbClr val="000000"/>
                </a:solidFill>
                <a:latin typeface="Open Sans 1"/>
                <a:ea typeface="Open Sans 1"/>
                <a:cs typeface="Open Sans 1"/>
                <a:sym typeface="Open Sans 1"/>
              </a:rPr>
              <a:t>J’ai laissé une seconde version du “OutLineShader” qui donne un style plus épais aux contours.</a:t>
            </a:r>
          </a:p>
          <a:p>
            <a:pPr algn="l">
              <a:lnSpc>
                <a:spcPts val="4941"/>
              </a:lnSpc>
              <a:spcBef>
                <a:spcPct val="0"/>
              </a:spcBef>
            </a:pPr>
            <a:r>
              <a:rPr lang="en-US" sz="3529">
                <a:solidFill>
                  <a:srgbClr val="000000"/>
                </a:solidFill>
                <a:latin typeface="Open Sans 1"/>
                <a:ea typeface="Open Sans 1"/>
                <a:cs typeface="Open Sans 1"/>
                <a:sym typeface="Open Sans 1"/>
              </a:rPr>
              <a:t>Celle qui est utilisé actuellement est plus légère et n’utilise que certaines parties du tuto.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DAGvHWhonuo</dc:identifier>
  <dcterms:modified xsi:type="dcterms:W3CDTF">2011-08-01T06:04:30Z</dcterms:modified>
  <cp:revision>1</cp:revision>
  <dc:title>Ajouter un titre</dc:title>
</cp:coreProperties>
</file>